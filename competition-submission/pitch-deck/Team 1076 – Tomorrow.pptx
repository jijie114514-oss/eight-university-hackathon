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2"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We are Tomorrow, Team 1076. This deck shows a working two-stage prototype. The optional server-side GenAI adapter explains structured decisions; transport data and validation limits are clearly marked.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 seconds. We are Tomorrow, Team 1076. Our prototype helps commuters decide when to leave, which route to use and when to switch or defer. This deck separates working software from simulated data and planned AI deployment.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25 seconds. Hong Kong recorded around 11.7 million public transport journeys per day in 2024. The September 2023 rainstorm caused widespread traffic disruption. Our focus is the decision a commuter must make before leaving, especially when transfers and deadlines interact. These statistics establish context, not product demand. Sources: https://www.td.gov.hk/mini_site/atd/2025/en/section5-1.html</a:t>
            </a:r>
          </a:p>
          <a:p>
            <a:r>
              <a:t>https://www.hko.gov.hk/en/wxinfo/pastwx/mws2023/mws202309.htm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20 seconds. We focus on students and workers who repeat a trip, use transfers and must arrive on time. Our hypothesis is that combining deadlines, fallback conditions and uncertainty reduces their decision burden. We have not yet established demand through completed interviews or trials. The image is an archived browser QA capture of the actual first-stage input page. Chinese controls correspond to origin, destination, arrival deadline, extra cost, transfers and scenario.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25 seconds. This screenshot comes from the working application, using the Central to Futian demonstration. The selected route, alternatives and lateness warning are visible. The table translates every Chinese label in the captured cards. These are fixtures, not live transport predictions.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30 seconds. These are actual first-stage browser QA captures from the three fixed scenarios. Normal recommends leaving at 08:09 with high confidence. Heavy rain shifts advice to 07:58 with medium confidence. Transport disruption gives 07:22 with low confidence and a changed route. The integrated cross-border demo is separate: normal Lok Ma Chau, disruption Shenzhen Bay and black-rain hold. Source: https://github.com/jijie114514-oss/eight-university-hackathon/blob/a140f0817a5e91bd9319fd0632f940934e975e31/release-checks/RELEASE_REVIEW.md The three images are archived real browser QA captures of the first-stage product, all using fixed demonstration data. They show normal 08:09, heavy rain 07:58 and transport disruption 07:22. The cross-border demo has separate behavior: normal Lok Ma Chau, disruption Shenzhen Bay and black-rain hold.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25 seconds. The reproducible demo is separate from public routing. The Hong Kong snapshot contains 9,466 stops and 2,452 routes. Public cross-border routing connects Shenzhen Bay and Heung Yuen Wai with an Amap-backed Shenzhen leg. The release environment has no Amap key. Archived provider probes are available, but do not prove universal coverage. https://github.com/jijie114514-oss/eight-university-hackathon/blob/a140f0817a5e91bd9319fd0632f940934e975e31/A%E9%83%A8%E5%88%86/app/docs/transit/TRANSIT_COVERAGE.md The image is an archived actual browser QA screenshot of the second-stage map page. The first-stage fixed demonstration and public routing mode are separate; the latter supports two road borders and requires a private Amap key for the Shenzhen provider.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integrated app calls a qwen-plus compatible endpoint when a private server-side key is configured. The model receives whitelisted decision facts and writes only an extra explanation. It never chooses a route, changes an ETA, or overrides go and hold. Unsupported numeric claims, provider errors and timeout produce a safe fallback. Local keyed use has been observed; public deployment availability depends on environment configuration.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Fresh tests on 18 October 2026: integrated application 595 passes in 43 files; two saved app versions 267 passes each, for 1,129 total including overlapping regressions. These are engineering checks, not completed user trials.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25 seconds. We align with public transport access and climate resilience. We propose a pilot with 10 to 15 commuters over 5 to 10 travel days, comparing the prototype with their existing tools. We will track planning time, late arrivals, extra cost and understanding of uncertainty. No emissions reduction or congestion benefit has yet been measured. https://sdgs.un.org/goals/goal11</a:t>
            </a:r>
          </a:p>
          <a:p>
            <a:r>
              <a:t>https://sdgs.un.org/goals/goal13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Model calls are optional and their latency and cost need evaluation alongside user comprehension before a wider pilot.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25 seconds. We label fixtures and estimates, avoid unsupported complete cross-border journeys and keep credentials on the server. We still need accessibility field checks and clear retention policies for search and location data sent to providers. Automated checks cannot guarantee safe travel. Seven high development-dependency audit findings also remain documented.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20 seconds. Our next step is a bounded pilot, not a citywide launch. First verify data and deploy the prototype. Then test explanations and decision comprehension, before measuring travel outcomes. We seek a university or employer partner, transport expertise and feedback from commuters.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GitHub repository is embedded as a visible, clickable link. The live website is online, but provider-backed functions still depend on privately configured keys. The fixed demo does not need a key.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public repository excludes private provider keys. Archived provider probes are selected samples and not field trials or all-city coverage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archive attributes the 6 October contract draft to WorkBuddy and member C. The project retained the useful schema and provenance principles, while changing the placeholder corridor and mapping fields into the main app. This is documentary evidence of a bounded contribution, not proof that WorkBuddy generated the entire application. https://github.com/jijie114514-oss/eight-university-hackathon/blob/a140f0817a5e91bd9319fd0632f940934e975e31/A%E9%83%A8%E5%88%86/app/docs/contracts/C_%E6%8E%A5%E5%8F%A3%E5%A5%91%E7%BA%A6_v1_workbuddy.md</a:t>
            </a:r>
          </a:p>
          <a:p>
            <a:r>
              <a:t>https://github.com/jijie114514-oss/eight-university-hackathon/blob/a140f0817a5e91bd9319fd0632f940934e975e31/A%E9%83%A8%E5%88%86/app/docs/DECISION_CONTRACT_CHANGE_REQUEST.md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rules: https://www.hack4sdg.com/2026-roadmap/final-submission-2026/</a:t>
            </a:r>
          </a:p>
          <a:p>
            <a:r>
              <a:t>judge: https://www.hack4sdg.com/judging-criteria/</a:t>
            </a:r>
          </a:p>
          <a:p>
            <a:r>
              <a:t>td: https://www.td.gov.hk/mini_site/atd/2025/en/section5-1.html</a:t>
            </a:r>
          </a:p>
          <a:p>
            <a:r>
              <a:t>hko: https://www.hko.gov.hk/en/wxinfo/pastwx/mws2023/mws202309.htm</a:t>
            </a:r>
          </a:p>
          <a:p>
            <a:r>
              <a:t>sdg11: https://sdgs.un.org/goals/goal11</a:t>
            </a:r>
          </a:p>
          <a:p>
            <a:r>
              <a:t>sdg13: https://sdgs.un.org/goals/goal13</a:t>
            </a:r>
          </a:p>
          <a:p>
            <a:r>
              <a:t>review: https://github.com/jijie114514-oss/eight-university-hackathon/blob/a140f0817a5e91bd9319fd0632f940934e975e31/release-checks/RELEASE_REVIEW.md</a:t>
            </a:r>
          </a:p>
          <a:p>
            <a:r>
              <a:t>coverage: https://github.com/jijie114514-oss/eight-university-hackathon/blob/a140f0817a5e91bd9319fd0632f940934e975e31/A%E9%83%A8%E5%88%86/app/docs/transit/TRANSIT_COVERAGE.md</a:t>
            </a:r>
          </a:p>
          <a:p>
            <a:r>
              <a:t>wb: https://github.com/jijie114514-oss/eight-university-hackathon/blob/a140f0817a5e91bd9319fd0632f940934e975e31/A%E9%83%A8%E5%88%86/app/docs/contracts/C_%E6%8E%A5%E5%8F%A3%E5%A5%91%E7%BA%A6_v1_workbuddy.md</a:t>
            </a:r>
          </a:p>
          <a:p>
            <a:r>
              <a:t>contract: https://github.com/jijie114514-oss/eight-university-hackathon/blob/a140f0817a5e91bd9319fd0632f940934e975e31/A%E9%83%A8%E5%88%86/app/docs/DECISION_CONTRACT_CHANGE_REQUEST.md</a:t>
            </a:r>
          </a:p>
          <a:p>
            <a:r>
              <a:t>explain: https://github.com/jijie114514-oss/eight-university-hackathon/blob/a140f0817a5e91bd9319fd0632f940934e975e31/A%E9%83%A8%E5%88%86/app/src/lib/decision/explain.ts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6.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github.com/jijie114514-oss/eight-university-hackathon/blob/main/A%E9%83%A8%E5%88%86/app/src/lib/ai/explain.ts" TargetMode="External"/><Relationship Id="rId4" Type="http://schemas.openxmlformats.org/officeDocument/2006/relationships/hyperlink" Target="https://github.com/jijie114514-oss/eight-university-hackathon" TargetMode="Externa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jijie114514-oss/eight-university-hackathon" TargetMode="External"/><Relationship Id="rId2" Type="http://schemas.openxmlformats.org/officeDocument/2006/relationships/hyperlink" Target="https://github.com/jijie114514-oss/eight-university-hackathon/blob/a140f0817a5e91bd9319fd0632f940934e975e31/release-checks/RELEASE_REVIEW.md" TargetMode="External"/><Relationship Id="rId3" Type="http://schemas.openxmlformats.org/officeDocument/2006/relationships/slideLayout" Target="../slideLayouts/slideLayout6.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hack4sdg.com/2026-roadmap/final-submission-2026/" TargetMode="External"/><Relationship Id="rId2" Type="http://schemas.openxmlformats.org/officeDocument/2006/relationships/hyperlink" Target="https://www.hack4sdg.com/judging-criteria/" TargetMode="External"/><Relationship Id="rId3" Type="http://schemas.openxmlformats.org/officeDocument/2006/relationships/hyperlink" Target="https://www.td.gov.hk/mini_site/atd/2025/en/section5-1.html" TargetMode="External"/><Relationship Id="rId4" Type="http://schemas.openxmlformats.org/officeDocument/2006/relationships/hyperlink" Target="https://www.hko.gov.hk/en/wxinfo/pastwx/mws2023/mws202309.htm" TargetMode="External"/><Relationship Id="rId5" Type="http://schemas.openxmlformats.org/officeDocument/2006/relationships/hyperlink" Target="https://sdgs.un.org/goals/goal11" TargetMode="External"/><Relationship Id="rId6" Type="http://schemas.openxmlformats.org/officeDocument/2006/relationships/hyperlink" Target="https://sdgs.un.org/goals/goal13" TargetMode="External"/><Relationship Id="rId7" Type="http://schemas.openxmlformats.org/officeDocument/2006/relationships/hyperlink" Target="https://github.com/jijie114514-oss/eight-university-hackathon/blob/a140f0817a5e91bd9319fd0632f940934e975e31/release-checks/RELEASE_REVIEW.md" TargetMode="External"/><Relationship Id="rId8" Type="http://schemas.openxmlformats.org/officeDocument/2006/relationships/hyperlink" Target="https://github.com/jijie114514-oss/eight-university-hackathon/blob/a140f0817a5e91bd9319fd0632f940934e975e31/A%E9%83%A8%E5%88%86/app/docs/transit/TRANSIT_COVERAGE.md" TargetMode="External"/><Relationship Id="rId9" Type="http://schemas.openxmlformats.org/officeDocument/2006/relationships/hyperlink" Target="https://github.com/jijie114514-oss/eight-university-hackathon/blob/a140f0817a5e91bd9319fd0632f940934e975e31/A%E9%83%A8%E5%88%86/app/src/lib/decision/explain.ts" TargetMode="External"/><Relationship Id="rId10" Type="http://schemas.openxmlformats.org/officeDocument/2006/relationships/hyperlink" Target="https://github.com/jijie114514-oss/eight-university-hackathon/blob/a140f0817a5e91bd9319fd0632f940934e975e31/A%E9%83%A8%E5%88%86/app/docs/contracts/C_%E6%8E%A5%E5%8F%A3%E5%A5%91%E7%BA%A6_v1_workbuddy.md" TargetMode="External"/><Relationship Id="rId11" Type="http://schemas.openxmlformats.org/officeDocument/2006/relationships/hyperlink" Target="https://github.com/jijie114514-oss/eight-university-hackathon/blob/a140f0817a5e91bd9319fd0632f940934e975e31/A%E9%83%A8%E5%88%86/app/docs/DECISION_CONTRACT_CHANGE_REQUEST.md" TargetMode="External"/><Relationship Id="rId12" Type="http://schemas.openxmlformats.org/officeDocument/2006/relationships/slideLayout" Target="../slideLayouts/slideLayout6.xml"/><Relationship Id="rId1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2D3E"/>
        </a:solidFill>
        <a:effectLst/>
      </p:bgPr>
    </p:bg>
    <p:spTree>
      <p:nvGrpSpPr>
        <p:cNvPr id="1" name=""/>
        <p:cNvGrpSpPr/>
        <p:nvPr/>
      </p:nvGrpSpPr>
      <p:grpSpPr/>
      <p:sp>
        <p:nvSpPr>
          <p:cNvPr id="2" name="Rectangle 1"/>
          <p:cNvSpPr/>
          <p:nvPr/>
        </p:nvSpPr>
        <p:spPr>
          <a:xfrm>
            <a:off x="0" y="5559552"/>
            <a:ext cx="12191695" cy="1298448"/>
          </a:xfrm>
          <a:prstGeom prst="rect">
            <a:avLst/>
          </a:prstGeom>
          <a:solidFill>
            <a:srgbClr val="124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7512" y="420624"/>
            <a:ext cx="8229600" cy="329184"/>
          </a:xfrm>
          <a:prstGeom prst="rect">
            <a:avLst/>
          </a:prstGeom>
          <a:noFill/>
        </p:spPr>
        <p:txBody>
          <a:bodyPr wrap="square" lIns="9144" rIns="9144" tIns="9144" bIns="9144" anchor="ctr">
            <a:spAutoFit/>
          </a:bodyPr>
          <a:lstStyle/>
          <a:p>
            <a:pPr algn="l">
              <a:spcAft>
                <a:spcPts val="0"/>
              </a:spcAft>
            </a:pPr>
            <a:r>
              <a:rPr sz="1300" b="1">
                <a:solidFill>
                  <a:srgbClr val="98DBD5"/>
                </a:solidFill>
                <a:latin typeface="Arial"/>
              </a:rPr>
              <a:t>INTER-UNIVERSITY GENAI HACKATHON FOR SDGS 2026</a:t>
            </a:r>
          </a:p>
        </p:txBody>
      </p:sp>
      <p:sp>
        <p:nvSpPr>
          <p:cNvPr id="4" name="TextBox 3"/>
          <p:cNvSpPr txBox="1"/>
          <p:nvPr/>
        </p:nvSpPr>
        <p:spPr>
          <a:xfrm>
            <a:off x="667512" y="1069848"/>
            <a:ext cx="6949440" cy="1261872"/>
          </a:xfrm>
          <a:prstGeom prst="rect">
            <a:avLst/>
          </a:prstGeom>
          <a:noFill/>
        </p:spPr>
        <p:txBody>
          <a:bodyPr wrap="square" lIns="9144" rIns="9144" tIns="9144" bIns="9144" anchor="ctr">
            <a:spAutoFit/>
          </a:bodyPr>
          <a:lstStyle/>
          <a:p>
            <a:pPr algn="l">
              <a:spcAft>
                <a:spcPts val="0"/>
              </a:spcAft>
            </a:pPr>
            <a:r>
              <a:rPr sz="4100" b="1">
                <a:solidFill>
                  <a:srgbClr val="FFFFFF"/>
                </a:solidFill>
                <a:latin typeface="Arial"/>
              </a:rPr>
              <a:t>Resilience</a:t>
            </a:r>
          </a:p>
          <a:p>
            <a:pPr algn="l">
              <a:spcAft>
                <a:spcPts val="0"/>
              </a:spcAft>
            </a:pPr>
            <a:r>
              <a:rPr sz="4100" b="1">
                <a:solidFill>
                  <a:srgbClr val="FFFFFF"/>
                </a:solidFill>
                <a:latin typeface="Arial"/>
              </a:rPr>
              <a:t>Travel Assistant</a:t>
            </a:r>
          </a:p>
        </p:txBody>
      </p:sp>
      <p:sp>
        <p:nvSpPr>
          <p:cNvPr id="5" name="TextBox 4"/>
          <p:cNvSpPr txBox="1"/>
          <p:nvPr/>
        </p:nvSpPr>
        <p:spPr>
          <a:xfrm>
            <a:off x="685800" y="2514600"/>
            <a:ext cx="6583680" cy="320040"/>
          </a:xfrm>
          <a:prstGeom prst="rect">
            <a:avLst/>
          </a:prstGeom>
          <a:noFill/>
        </p:spPr>
        <p:txBody>
          <a:bodyPr wrap="square" lIns="9144" rIns="9144" tIns="9144" bIns="9144" anchor="ctr">
            <a:spAutoFit/>
          </a:bodyPr>
          <a:lstStyle/>
          <a:p>
            <a:pPr algn="l">
              <a:spcAft>
                <a:spcPts val="0"/>
              </a:spcAft>
            </a:pPr>
            <a:r>
              <a:rPr sz="1900" b="1">
                <a:solidFill>
                  <a:srgbClr val="98DBD5"/>
                </a:solidFill>
                <a:latin typeface="Arial"/>
              </a:rPr>
              <a:t>TEAM 1076  /  TOMORROW</a:t>
            </a:r>
          </a:p>
        </p:txBody>
      </p:sp>
      <p:sp>
        <p:nvSpPr>
          <p:cNvPr id="6" name="Rounded Rectangle 5"/>
          <p:cNvSpPr/>
          <p:nvPr/>
        </p:nvSpPr>
        <p:spPr>
          <a:xfrm>
            <a:off x="667512" y="3072384"/>
            <a:ext cx="4041648" cy="475488"/>
          </a:xfrm>
          <a:prstGeom prst="roundRect">
            <a:avLst/>
          </a:prstGeom>
          <a:solidFill>
            <a:srgbClr val="007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3136392"/>
            <a:ext cx="3703320" cy="329184"/>
          </a:xfrm>
          <a:prstGeom prst="rect">
            <a:avLst/>
          </a:prstGeom>
          <a:noFill/>
        </p:spPr>
        <p:txBody>
          <a:bodyPr wrap="square" lIns="9144" rIns="9144" tIns="9144" bIns="9144" anchor="ctr">
            <a:spAutoFit/>
          </a:bodyPr>
          <a:lstStyle/>
          <a:p>
            <a:pPr algn="l">
              <a:spcAft>
                <a:spcPts val="0"/>
              </a:spcAft>
            </a:pPr>
            <a:r>
              <a:rPr sz="1800" b="1">
                <a:solidFill>
                  <a:srgbClr val="FFFFFF"/>
                </a:solidFill>
                <a:latin typeface="Arial"/>
              </a:rPr>
              <a:t>Green Transport &amp; Smart Mobility</a:t>
            </a:r>
          </a:p>
        </p:txBody>
      </p:sp>
      <p:sp>
        <p:nvSpPr>
          <p:cNvPr id="8" name="TextBox 7"/>
          <p:cNvSpPr txBox="1"/>
          <p:nvPr/>
        </p:nvSpPr>
        <p:spPr>
          <a:xfrm>
            <a:off x="667512" y="3813048"/>
            <a:ext cx="7040880" cy="1252728"/>
          </a:xfrm>
          <a:prstGeom prst="rect">
            <a:avLst/>
          </a:prstGeom>
          <a:noFill/>
        </p:spPr>
        <p:txBody>
          <a:bodyPr wrap="square" lIns="9144" rIns="9144" tIns="9144" bIns="9144" anchor="ctr">
            <a:spAutoFit/>
          </a:bodyPr>
          <a:lstStyle/>
          <a:p>
            <a:pPr algn="l">
              <a:spcAft>
                <a:spcPts val="0"/>
              </a:spcAft>
            </a:pPr>
            <a:r>
              <a:rPr sz="2100" b="0">
                <a:solidFill>
                  <a:srgbClr val="FFFFFF"/>
                </a:solidFill>
                <a:latin typeface="Arial"/>
              </a:rPr>
              <a:t>A travel decision-support tool that helps Hong Kong and cross-border commuters choose departure times, compare disruption risks, and prepare alternatives using transport data, transparent rules, and constrained explanations.</a:t>
            </a:r>
          </a:p>
        </p:txBody>
      </p:sp>
      <p:sp>
        <p:nvSpPr>
          <p:cNvPr id="9" name="Rounded Rectangle 8"/>
          <p:cNvSpPr/>
          <p:nvPr/>
        </p:nvSpPr>
        <p:spPr>
          <a:xfrm>
            <a:off x="8366760" y="1042415"/>
            <a:ext cx="2788920"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am-logo-original.png"/>
          <p:cNvPicPr>
            <a:picLocks noChangeAspect="1"/>
          </p:cNvPicPr>
          <p:nvPr/>
        </p:nvPicPr>
        <p:blipFill>
          <a:blip r:embed="rId3"/>
          <a:stretch>
            <a:fillRect/>
          </a:stretch>
        </p:blipFill>
        <p:spPr>
          <a:xfrm>
            <a:off x="8485632" y="1161288"/>
            <a:ext cx="2551176" cy="2551176"/>
          </a:xfrm>
          <a:prstGeom prst="rect">
            <a:avLst/>
          </a:prstGeom>
        </p:spPr>
      </p:pic>
      <p:sp>
        <p:nvSpPr>
          <p:cNvPr id="11" name="TextBox 10"/>
          <p:cNvSpPr txBox="1"/>
          <p:nvPr/>
        </p:nvSpPr>
        <p:spPr>
          <a:xfrm>
            <a:off x="8366760" y="4023360"/>
            <a:ext cx="3200400" cy="786384"/>
          </a:xfrm>
          <a:prstGeom prst="rect">
            <a:avLst/>
          </a:prstGeom>
          <a:noFill/>
        </p:spPr>
        <p:txBody>
          <a:bodyPr wrap="square" lIns="9144" rIns="9144" tIns="9144" bIns="9144" anchor="ctr">
            <a:spAutoFit/>
          </a:bodyPr>
          <a:lstStyle/>
          <a:p>
            <a:pPr algn="l">
              <a:spcAft>
                <a:spcPts val="0"/>
              </a:spcAft>
            </a:pPr>
            <a:r>
              <a:rPr sz="1700" b="1">
                <a:solidFill>
                  <a:srgbClr val="98DBD5"/>
                </a:solidFill>
                <a:latin typeface="Arial"/>
              </a:rPr>
              <a:t>CLEARER CHOICES</a:t>
            </a:r>
          </a:p>
          <a:p>
            <a:pPr algn="l">
              <a:spcAft>
                <a:spcPts val="0"/>
              </a:spcAft>
            </a:pPr>
            <a:r>
              <a:rPr sz="1700" b="1">
                <a:solidFill>
                  <a:srgbClr val="98DBD5"/>
                </a:solidFill>
                <a:latin typeface="Arial"/>
              </a:rPr>
              <a:t>UNDER DISRUPTION</a:t>
            </a:r>
          </a:p>
        </p:txBody>
      </p:sp>
      <p:sp>
        <p:nvSpPr>
          <p:cNvPr id="12" name="TextBox 11"/>
          <p:cNvSpPr txBox="1"/>
          <p:nvPr/>
        </p:nvSpPr>
        <p:spPr>
          <a:xfrm>
            <a:off x="667512" y="5705856"/>
            <a:ext cx="1645920" cy="256032"/>
          </a:xfrm>
          <a:prstGeom prst="rect">
            <a:avLst/>
          </a:prstGeom>
          <a:noFill/>
        </p:spPr>
        <p:txBody>
          <a:bodyPr wrap="square" lIns="9144" rIns="9144" tIns="9144" bIns="9144" anchor="ctr">
            <a:spAutoFit/>
          </a:bodyPr>
          <a:lstStyle/>
          <a:p>
            <a:pPr algn="l">
              <a:spcAft>
                <a:spcPts val="0"/>
              </a:spcAft>
            </a:pPr>
            <a:r>
              <a:rPr sz="1200" b="1">
                <a:solidFill>
                  <a:srgbClr val="98DBD5"/>
                </a:solidFill>
                <a:latin typeface="Arial"/>
              </a:rPr>
              <a:t>TEAM MEMBERS</a:t>
            </a:r>
          </a:p>
        </p:txBody>
      </p:sp>
      <p:sp>
        <p:nvSpPr>
          <p:cNvPr id="13" name="TextBox 12"/>
          <p:cNvSpPr txBox="1"/>
          <p:nvPr/>
        </p:nvSpPr>
        <p:spPr>
          <a:xfrm>
            <a:off x="667512" y="5989320"/>
            <a:ext cx="5166360" cy="722376"/>
          </a:xfrm>
          <a:prstGeom prst="rect">
            <a:avLst/>
          </a:prstGeom>
          <a:noFill/>
        </p:spPr>
        <p:txBody>
          <a:bodyPr wrap="square" lIns="9144" rIns="9144" tIns="9144" bIns="9144" anchor="ctr">
            <a:spAutoFit/>
          </a:bodyPr>
          <a:lstStyle/>
          <a:p>
            <a:pPr algn="l">
              <a:spcAft>
                <a:spcPts val="0"/>
              </a:spcAft>
            </a:pPr>
            <a:r>
              <a:rPr sz="1330" b="0">
                <a:solidFill>
                  <a:srgbClr val="FFFFFF"/>
                </a:solidFill>
                <a:latin typeface="Arial"/>
              </a:rPr>
              <a:t>Ji Jie · Lingnan University</a:t>
            </a:r>
          </a:p>
          <a:p>
            <a:pPr algn="l">
              <a:spcAft>
                <a:spcPts val="0"/>
              </a:spcAft>
            </a:pPr>
            <a:r>
              <a:rPr sz="1330" b="0">
                <a:solidFill>
                  <a:srgbClr val="FFFFFF"/>
                </a:solidFill>
                <a:latin typeface="Arial"/>
              </a:rPr>
              <a:t>Xiaowen LI · City University of Hong Kong</a:t>
            </a:r>
          </a:p>
          <a:p>
            <a:pPr algn="l">
              <a:spcAft>
                <a:spcPts val="0"/>
              </a:spcAft>
            </a:pPr>
            <a:r>
              <a:rPr sz="1330" b="0">
                <a:solidFill>
                  <a:srgbClr val="FFFFFF"/>
                </a:solidFill>
                <a:latin typeface="Arial"/>
              </a:rPr>
              <a:t>xu tianyi · The University of Hong Kong</a:t>
            </a:r>
          </a:p>
        </p:txBody>
      </p:sp>
      <p:sp>
        <p:nvSpPr>
          <p:cNvPr id="14" name="TextBox 13"/>
          <p:cNvSpPr txBox="1"/>
          <p:nvPr/>
        </p:nvSpPr>
        <p:spPr>
          <a:xfrm>
            <a:off x="6492240" y="5989320"/>
            <a:ext cx="5212080" cy="658368"/>
          </a:xfrm>
          <a:prstGeom prst="rect">
            <a:avLst/>
          </a:prstGeom>
          <a:noFill/>
        </p:spPr>
        <p:txBody>
          <a:bodyPr wrap="square" lIns="9144" rIns="9144" tIns="9144" bIns="9144" anchor="ctr">
            <a:spAutoFit/>
          </a:bodyPr>
          <a:lstStyle/>
          <a:p>
            <a:pPr algn="l">
              <a:spcAft>
                <a:spcPts val="0"/>
              </a:spcAft>
            </a:pPr>
            <a:r>
              <a:rPr sz="1330" b="0">
                <a:solidFill>
                  <a:srgbClr val="FFFFFF"/>
                </a:solidFill>
                <a:latin typeface="Arial"/>
              </a:rPr>
              <a:t>Liu jiaming · Lingnan University</a:t>
            </a:r>
          </a:p>
          <a:p>
            <a:pPr algn="l">
              <a:spcAft>
                <a:spcPts val="0"/>
              </a:spcAft>
            </a:pPr>
            <a:r>
              <a:rPr sz="1330" b="0">
                <a:solidFill>
                  <a:srgbClr val="FFFFFF"/>
                </a:solidFill>
                <a:latin typeface="Arial"/>
              </a:rPr>
              <a:t>Jiang Yunhan · The University of Hong Kong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9" name="矩形 8"/>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lang="en-US" altLang="zh-CN" sz="3300" b="1">
                <a:solidFill>
                  <a:srgbClr val="153D4B"/>
                </a:solidFill>
                <a:latin typeface="Arial" panose="020B0604020202020204"/>
                <a:ea typeface="Arial" panose="020B0604020202020204"/>
                <a:cs typeface="Arial" panose="020B0604020202020204"/>
              </a:rPr>
              <a:t>Brand Identity &amp; Visual Design</a:t>
            </a:r>
            <a:endParaRPr lang="en-US" altLang="zh-CN"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02</a:t>
            </a:r>
          </a:p>
        </p:txBody>
      </p:sp>
      <p:sp>
        <p:nvSpPr>
          <p:cNvPr id="5" name="矩形 4"/>
          <p:cNvSpPr>
            <a:spLocks noGrp="1"/>
          </p:cNvSpPr>
          <p:nvPr/>
        </p:nvSpPr>
        <p:spPr>
          <a:xfrm>
            <a:off x="4727575" y="1390650"/>
            <a:ext cx="6952615" cy="2680335"/>
          </a:xfrm>
          <a:prstGeom prst="rect">
            <a:avLst/>
          </a:prstGeom>
          <a:noFill/>
          <a:ln w="0">
            <a:noFill/>
          </a:ln>
        </p:spPr>
        <p:txBody>
          <a:bodyPr lIns="0" tIns="0" rIns="0" bIns="0" anchor="t"/>
          <a:lstStyle>
            <a:defPPr>
              <a:defRPr sz="2100" b="0">
                <a:solidFill>
                  <a:srgbClr val="153D4B"/>
                </a:solidFill>
                <a:latin typeface="Arial" panose="020B0604020202020204"/>
                <a:ea typeface="Arial" panose="020B0604020202020204"/>
                <a:cs typeface="Arial" panose="020B0604020202020204"/>
              </a:defRPr>
            </a:defPPr>
          </a:lstStyle>
          <a:p>
            <a:pPr>
              <a:defRPr sz="2100" b="0">
                <a:solidFill>
                  <a:srgbClr val="153D4B"/>
                </a:solidFill>
                <a:latin typeface="Arial" panose="020B0604020202020204"/>
                <a:ea typeface="Arial" panose="020B0604020202020204"/>
                <a:cs typeface="Arial" panose="020B0604020202020204"/>
              </a:defRPr>
            </a:pPr>
            <a:r>
              <a:rPr sz="2100" b="1">
                <a:solidFill>
                  <a:srgbClr val="087D76"/>
                </a:solidFill>
                <a:latin typeface="Arial" panose="020B0604020202020204"/>
                <a:ea typeface="Arial" panose="020B0604020202020204"/>
                <a:cs typeface="Arial" panose="020B0604020202020204"/>
              </a:rPr>
              <a:t>/ LOGO</a:t>
            </a:r>
            <a:r>
              <a:rPr lang="en-US" altLang="zh-CN" sz="2100">
                <a:latin typeface="Arial" panose="020B0604020202020204"/>
                <a:ea typeface="Arial" panose="020B0604020202020204"/>
                <a:cs typeface="Arial" panose="020B0604020202020204"/>
              </a:rPr>
              <a:t> </a:t>
            </a:r>
            <a:r>
              <a:rPr b="1">
                <a:solidFill>
                  <a:srgbClr val="087D76"/>
                </a:solidFill>
                <a:latin typeface="Arial" panose="020B0604020202020204"/>
                <a:ea typeface="Arial" panose="020B0604020202020204"/>
                <a:cs typeface="Arial" panose="020B0604020202020204"/>
              </a:rPr>
              <a:t>DESIGN</a:t>
            </a:r>
            <a:endParaRPr sz="4950" b="1">
              <a:solidFill>
                <a:srgbClr val="087D76"/>
              </a:solidFill>
              <a:latin typeface="Arial" panose="020B0604020202020204"/>
              <a:ea typeface="Arial" panose="020B0604020202020204"/>
              <a:cs typeface="Arial" panose="020B0604020202020204"/>
            </a:endParaRPr>
          </a:p>
          <a:p>
            <a:pPr marL="342900" indent="-342900">
              <a:buFont typeface="Arial" panose="020B0604020202020204" pitchFamily="34" charset="0"/>
              <a:buChar char="•"/>
              <a:defRPr sz="2100" b="0">
                <a:solidFill>
                  <a:srgbClr val="153D4B"/>
                </a:solidFill>
                <a:latin typeface="Arial" panose="020B0604020202020204"/>
                <a:ea typeface="Arial" panose="020B0604020202020204"/>
                <a:cs typeface="Arial" panose="020B0604020202020204"/>
              </a:defRPr>
            </a:pPr>
            <a:r>
              <a:rPr lang="en-US" altLang="zh-CN" sz="2100" b="0">
                <a:solidFill>
                  <a:srgbClr val="153D4B"/>
                </a:solidFill>
                <a:latin typeface="Arial" panose="020B0604020202020204"/>
                <a:ea typeface="Arial" panose="020B0604020202020204"/>
                <a:cs typeface="Arial" panose="020B0604020202020204"/>
              </a:rPr>
              <a:t>Multiple Routes, Clear Decisions</a:t>
            </a:r>
            <a:endParaRPr lang="en-US" altLang="zh-CN" sz="2100" b="0">
              <a:solidFill>
                <a:srgbClr val="153D4B"/>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r>
              <a:rPr lang="en-US" altLang="zh-CN" sz="2100" b="0">
                <a:solidFill>
                  <a:srgbClr val="153D4B"/>
                </a:solidFill>
                <a:latin typeface="Arial" panose="020B0604020202020204"/>
                <a:ea typeface="Arial" panose="020B0604020202020204"/>
                <a:cs typeface="Arial" panose="020B0604020202020204"/>
              </a:rPr>
              <a:t>Interconnected routes represent alternative travel options.</a:t>
            </a:r>
            <a:endParaRPr lang="en-US" altLang="zh-CN" sz="2100" b="0">
              <a:solidFill>
                <a:srgbClr val="153D4B"/>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endParaRPr lang="en-US" altLang="zh-CN" sz="2100" b="0">
              <a:solidFill>
                <a:srgbClr val="153D4B"/>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r>
              <a:rPr sz="2100" b="1">
                <a:solidFill>
                  <a:srgbClr val="087D76"/>
                </a:solidFill>
                <a:latin typeface="Arial" panose="020B0604020202020204"/>
                <a:ea typeface="Arial" panose="020B0604020202020204"/>
                <a:cs typeface="Arial" panose="020B0604020202020204"/>
              </a:rPr>
              <a:t>/ VISUAL IDENTITY</a:t>
            </a:r>
            <a:endParaRPr sz="2100" b="1">
              <a:solidFill>
                <a:srgbClr val="087D76"/>
              </a:solidFill>
              <a:latin typeface="Arial" panose="020B0604020202020204"/>
              <a:ea typeface="Arial" panose="020B0604020202020204"/>
              <a:cs typeface="Arial" panose="020B0604020202020204"/>
            </a:endParaRPr>
          </a:p>
          <a:p>
            <a:pPr marL="342900" indent="-342900">
              <a:buFont typeface="Arial" panose="020B0604020202020204" pitchFamily="34" charset="0"/>
              <a:buChar char="•"/>
              <a:defRPr sz="2100" b="0">
                <a:solidFill>
                  <a:srgbClr val="153D4B"/>
                </a:solidFill>
                <a:latin typeface="Arial" panose="020B0604020202020204"/>
                <a:ea typeface="Arial" panose="020B0604020202020204"/>
                <a:cs typeface="Arial" panose="020B0604020202020204"/>
              </a:defRPr>
            </a:pPr>
            <a:r>
              <a:rPr lang="en-US" altLang="zh-CN" sz="2100" b="0">
                <a:solidFill>
                  <a:srgbClr val="153D4B"/>
                </a:solidFill>
                <a:latin typeface="Arial" panose="020B0604020202020204"/>
                <a:ea typeface="Arial" panose="020B0604020202020204"/>
                <a:cs typeface="Arial" panose="020B0604020202020204"/>
              </a:rPr>
              <a:t>Calm, Clear &amp; Reliable</a:t>
            </a:r>
            <a:endParaRPr lang="en-US" altLang="zh-CN" sz="2100" b="0">
              <a:solidFill>
                <a:srgbClr val="153D4B"/>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r>
              <a:rPr lang="en-US" altLang="zh-CN" sz="2100">
                <a:latin typeface="Arial" panose="020B0604020202020204"/>
                <a:ea typeface="Arial" panose="020B0604020202020204"/>
                <a:cs typeface="Arial" panose="020B0604020202020204"/>
              </a:rPr>
              <a:t>Deep teal and dark blue create a calm, trustworthy visual identity.</a:t>
            </a:r>
            <a:endParaRPr lang="en-US" altLang="zh-CN" sz="2100">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endParaRPr lang="en-US" altLang="zh-CN" sz="2100" b="1">
              <a:solidFill>
                <a:srgbClr val="087D76"/>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r>
              <a:rPr sz="2100" b="1">
                <a:solidFill>
                  <a:srgbClr val="087D76"/>
                </a:solidFill>
                <a:latin typeface="Arial" panose="020B0604020202020204"/>
                <a:ea typeface="Arial" panose="020B0604020202020204"/>
                <a:cs typeface="Arial" panose="020B0604020202020204"/>
              </a:rPr>
              <a:t>/ PRODUCT PHILOSOPHY</a:t>
            </a:r>
            <a:endParaRPr lang="en-US" altLang="zh-CN" sz="2100" b="0">
              <a:solidFill>
                <a:srgbClr val="153D4B"/>
              </a:solidFill>
              <a:latin typeface="Arial" panose="020B0604020202020204"/>
              <a:ea typeface="Arial" panose="020B0604020202020204"/>
              <a:cs typeface="Arial" panose="020B0604020202020204"/>
            </a:endParaRPr>
          </a:p>
          <a:p>
            <a:pPr marL="342900" indent="-342900">
              <a:buFont typeface="Arial" panose="020B0604020202020204" pitchFamily="34" charset="0"/>
              <a:buChar char="•"/>
              <a:defRPr sz="2100" b="0">
                <a:solidFill>
                  <a:srgbClr val="153D4B"/>
                </a:solidFill>
                <a:latin typeface="Arial" panose="020B0604020202020204"/>
                <a:ea typeface="Arial" panose="020B0604020202020204"/>
                <a:cs typeface="Arial" panose="020B0604020202020204"/>
              </a:defRPr>
            </a:pPr>
            <a:r>
              <a:rPr lang="en-US" altLang="zh-CN" sz="2100" b="0">
                <a:solidFill>
                  <a:srgbClr val="153D4B"/>
                </a:solidFill>
                <a:latin typeface="Arial" panose="020B0604020202020204"/>
                <a:ea typeface="Arial" panose="020B0604020202020204"/>
                <a:cs typeface="Arial" panose="020B0604020202020204"/>
              </a:rPr>
              <a:t>Fixed Commute. Transparent Rules.</a:t>
            </a:r>
            <a:endParaRPr lang="en-US" altLang="zh-CN" sz="2100" b="0">
              <a:solidFill>
                <a:srgbClr val="153D4B"/>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r>
              <a:rPr lang="en-US" altLang="zh-CN" sz="2100" b="0">
                <a:solidFill>
                  <a:srgbClr val="153D4B"/>
                </a:solidFill>
                <a:latin typeface="Arial" panose="020B0604020202020204"/>
                <a:ea typeface="Arial" panose="020B0604020202020204"/>
                <a:cs typeface="Arial" panose="020B0604020202020204"/>
              </a:rPr>
              <a:t>Data-driven insights help commuters compare risks and plan alternatives.</a:t>
            </a:r>
            <a:endParaRPr lang="en-US" altLang="zh-CN" sz="2100"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09600" y="6191250"/>
            <a:ext cx="10001250" cy="285750"/>
          </a:xfrm>
          <a:prstGeom prst="rect">
            <a:avLst/>
          </a:prstGeom>
          <a:noFill/>
          <a:ln w="0">
            <a:noFill/>
          </a:ln>
        </p:spPr>
        <p:txBody>
          <a:bodyPr lIns="0" tIns="0" rIns="0" bIns="0" anchor="t"/>
          <a:lstStyle>
            <a:defPPr>
              <a:defRPr sz="1425" b="0">
                <a:solidFill>
                  <a:srgbClr val="4F636B"/>
                </a:solidFill>
                <a:latin typeface="Arial" panose="020B0604020202020204"/>
                <a:ea typeface="Arial" panose="020B0604020202020204"/>
                <a:cs typeface="Arial" panose="020B0604020202020204"/>
              </a:defRPr>
            </a:defPPr>
          </a:lstStyle>
          <a:p>
            <a:pPr>
              <a:defRPr sz="1425" b="0">
                <a:solidFill>
                  <a:srgbClr val="4F636B"/>
                </a:solidFill>
                <a:latin typeface="Arial" panose="020B0604020202020204"/>
                <a:ea typeface="Arial" panose="020B0604020202020204"/>
                <a:cs typeface="Arial" panose="020B0604020202020204"/>
              </a:defRPr>
            </a:pPr>
            <a:r>
              <a:rPr sz="1425" b="0">
                <a:solidFill>
                  <a:srgbClr val="4F636B"/>
                </a:solidFill>
                <a:latin typeface="Arial" panose="020B0604020202020204"/>
                <a:ea typeface="Arial" panose="020B0604020202020204"/>
                <a:cs typeface="Arial" panose="020B0604020202020204"/>
              </a:rPr>
              <a:t>Inter-University GenAI Hackathon for SDGs 2026</a:t>
            </a:r>
            <a:endParaRPr sz="1425" b="0">
              <a:solidFill>
                <a:srgbClr val="4F636B"/>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633730" y="4437380"/>
            <a:ext cx="3524885" cy="920750"/>
          </a:xfrm>
          <a:prstGeom prst="rect">
            <a:avLst/>
          </a:prstGeom>
          <a:noFill/>
          <a:ln w="0">
            <a:noFill/>
          </a:ln>
        </p:spPr>
        <p:txBody>
          <a:bodyPr lIns="0" tIns="0" rIns="0" bIns="0" anchor="t"/>
          <a:lstStyle>
            <a:defPPr>
              <a:defRPr sz="2100" b="0">
                <a:solidFill>
                  <a:srgbClr val="153D4B"/>
                </a:solidFill>
                <a:latin typeface="Arial" panose="020B0604020202020204"/>
                <a:ea typeface="Arial" panose="020B0604020202020204"/>
                <a:cs typeface="Arial" panose="020B0604020202020204"/>
              </a:defRPr>
            </a:defPPr>
          </a:lstStyle>
          <a:p>
            <a:r>
              <a:rPr sz="1800" b="1">
                <a:solidFill>
                  <a:srgbClr val="183B48"/>
                </a:solidFill>
                <a:latin typeface="Arial"/>
              </a:rPr>
              <a:t>Resilience Travel Assistant</a:t>
            </a:r>
          </a:p>
          <a:p>
            <a:r>
              <a:rPr sz="1800" b="1">
                <a:solidFill>
                  <a:srgbClr val="183B48"/>
                </a:solidFill>
                <a:latin typeface="Arial"/>
              </a:rPr>
              <a:t>Know your route. Know when to go.</a:t>
            </a:r>
          </a:p>
        </p:txBody>
      </p:sp>
      <p:pic>
        <p:nvPicPr>
          <p:cNvPr id="16" name="图片 15" descr="logo终"/>
          <p:cNvPicPr>
            <a:picLocks noChangeAspect="1"/>
          </p:cNvPicPr>
          <p:nvPr/>
        </p:nvPicPr>
        <p:blipFill>
          <a:blip r:embed="rId1"/>
          <a:srcRect l="22250" t="14694" r="23157" b="30704"/>
          <a:stretch>
            <a:fillRect/>
          </a:stretch>
        </p:blipFill>
        <p:spPr>
          <a:xfrm>
            <a:off x="838835" y="1321435"/>
            <a:ext cx="3114675" cy="31159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9" name="矩形 8"/>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 disruption changes the whole journey</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03</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Sources: Hong Kong Transport Department (2025 digest), Hong Kong Observatory (September 2023)</a:t>
            </a:r>
            <a:endParaRPr sz="1125" b="0">
              <a:solidFill>
                <a:srgbClr val="4F636B"/>
              </a:solidFill>
              <a:latin typeface="Arial" panose="020B0604020202020204"/>
              <a:ea typeface="Arial" panose="020B0604020202020204"/>
              <a:cs typeface="Arial" panose="020B0604020202020204"/>
            </a:endParaRPr>
          </a:p>
        </p:txBody>
      </p:sp>
      <p:sp>
        <p:nvSpPr>
          <p:cNvPr id="4" name="矩形 3"/>
          <p:cNvSpPr>
            <a:spLocks noGrp="1"/>
          </p:cNvSpPr>
          <p:nvPr/>
        </p:nvSpPr>
        <p:spPr>
          <a:xfrm>
            <a:off x="609600" y="1762125"/>
            <a:ext cx="5048250" cy="857250"/>
          </a:xfrm>
          <a:prstGeom prst="rect">
            <a:avLst/>
          </a:prstGeom>
          <a:noFill/>
          <a:ln w="0">
            <a:noFill/>
          </a:ln>
        </p:spPr>
        <p:txBody>
          <a:bodyPr lIns="0" tIns="0" rIns="0" bIns="0" anchor="t"/>
          <a:lstStyle>
            <a:defPPr>
              <a:defRPr sz="4950" b="1">
                <a:solidFill>
                  <a:srgbClr val="087D76"/>
                </a:solidFill>
                <a:latin typeface="Arial" panose="020B0604020202020204"/>
                <a:ea typeface="Arial" panose="020B0604020202020204"/>
                <a:cs typeface="Arial" panose="020B0604020202020204"/>
              </a:defRPr>
            </a:defPPr>
          </a:lstStyle>
          <a:p>
            <a:pPr>
              <a:defRPr sz="4950" b="1">
                <a:solidFill>
                  <a:srgbClr val="087D76"/>
                </a:solidFill>
                <a:latin typeface="Arial" panose="020B0604020202020204"/>
                <a:ea typeface="Arial" panose="020B0604020202020204"/>
                <a:cs typeface="Arial" panose="020B0604020202020204"/>
              </a:defRPr>
            </a:pPr>
            <a:r>
              <a:rPr sz="4950" b="1">
                <a:solidFill>
                  <a:srgbClr val="087D76"/>
                </a:solidFill>
                <a:latin typeface="Arial" panose="020B0604020202020204"/>
                <a:ea typeface="Arial" panose="020B0604020202020204"/>
                <a:cs typeface="Arial" panose="020B0604020202020204"/>
              </a:rPr>
              <a:t>11.7 million</a:t>
            </a:r>
            <a:endParaRPr sz="4950" b="1">
              <a:solidFill>
                <a:srgbClr val="087D76"/>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09600" y="2714625"/>
            <a:ext cx="4953000" cy="952500"/>
          </a:xfrm>
          <a:prstGeom prst="rect">
            <a:avLst/>
          </a:prstGeom>
          <a:noFill/>
          <a:ln w="0">
            <a:noFill/>
          </a:ln>
        </p:spPr>
        <p:txBody>
          <a:bodyPr lIns="0" tIns="0" rIns="0" bIns="0" anchor="t"/>
          <a:lstStyle>
            <a:defPPr>
              <a:defRPr sz="2100" b="0">
                <a:solidFill>
                  <a:srgbClr val="153D4B"/>
                </a:solidFill>
                <a:latin typeface="Arial" panose="020B0604020202020204"/>
                <a:ea typeface="Arial" panose="020B0604020202020204"/>
                <a:cs typeface="Arial" panose="020B0604020202020204"/>
              </a:defRPr>
            </a:defPPr>
          </a:lstStyle>
          <a:p>
            <a:pPr>
              <a:defRPr sz="2100" b="0">
                <a:solidFill>
                  <a:srgbClr val="153D4B"/>
                </a:solidFill>
                <a:latin typeface="Arial" panose="020B0604020202020204"/>
                <a:ea typeface="Arial" panose="020B0604020202020204"/>
                <a:cs typeface="Arial" panose="020B0604020202020204"/>
              </a:defRPr>
            </a:pPr>
            <a:r>
              <a:rPr sz="2100" b="0">
                <a:solidFill>
                  <a:srgbClr val="153D4B"/>
                </a:solidFill>
                <a:latin typeface="Arial" panose="020B0604020202020204"/>
                <a:ea typeface="Arial" panose="020B0604020202020204"/>
                <a:cs typeface="Arial" panose="020B0604020202020204"/>
              </a:rPr>
              <a:t>public transport journeys per day</a:t>
            </a:r>
            <a:endParaRPr sz="2100" b="0">
              <a:solidFill>
                <a:srgbClr val="153D4B"/>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r>
              <a:rPr sz="2100" b="0">
                <a:solidFill>
                  <a:srgbClr val="153D4B"/>
                </a:solidFill>
                <a:latin typeface="Arial" panose="020B0604020202020204"/>
                <a:ea typeface="Arial" panose="020B0604020202020204"/>
                <a:cs typeface="Arial" panose="020B0604020202020204"/>
              </a:rPr>
              <a:t>in Hong Kong, 2024</a:t>
            </a:r>
            <a:endParaRPr sz="2100" b="0">
              <a:solidFill>
                <a:srgbClr val="153D4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381750" y="1762125"/>
            <a:ext cx="5048250" cy="857250"/>
          </a:xfrm>
          <a:prstGeom prst="rect">
            <a:avLst/>
          </a:prstGeom>
          <a:noFill/>
          <a:ln w="0">
            <a:noFill/>
          </a:ln>
        </p:spPr>
        <p:txBody>
          <a:bodyPr lIns="0" tIns="0" rIns="0" bIns="0" anchor="t"/>
          <a:lstStyle>
            <a:defPPr>
              <a:defRPr sz="4950" b="1">
                <a:solidFill>
                  <a:srgbClr val="087D76"/>
                </a:solidFill>
                <a:latin typeface="Arial" panose="020B0604020202020204"/>
                <a:ea typeface="Arial" panose="020B0604020202020204"/>
                <a:cs typeface="Arial" panose="020B0604020202020204"/>
              </a:defRPr>
            </a:defPPr>
          </a:lstStyle>
          <a:p>
            <a:pPr>
              <a:defRPr sz="4950" b="1">
                <a:solidFill>
                  <a:srgbClr val="087D76"/>
                </a:solidFill>
                <a:latin typeface="Arial" panose="020B0604020202020204"/>
                <a:ea typeface="Arial" panose="020B0604020202020204"/>
                <a:cs typeface="Arial" panose="020B0604020202020204"/>
              </a:defRPr>
            </a:pPr>
            <a:r>
              <a:rPr sz="4950" b="1">
                <a:solidFill>
                  <a:srgbClr val="087D76"/>
                </a:solidFill>
                <a:latin typeface="Arial" panose="020B0604020202020204"/>
                <a:ea typeface="Arial" panose="020B0604020202020204"/>
                <a:cs typeface="Arial" panose="020B0604020202020204"/>
              </a:rPr>
              <a:t>158.1 mm</a:t>
            </a:r>
            <a:endParaRPr sz="4950" b="1">
              <a:solidFill>
                <a:srgbClr val="087D76"/>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381750" y="2714625"/>
            <a:ext cx="5095875" cy="952500"/>
          </a:xfrm>
          <a:prstGeom prst="rect">
            <a:avLst/>
          </a:prstGeom>
          <a:noFill/>
          <a:ln w="0">
            <a:noFill/>
          </a:ln>
        </p:spPr>
        <p:txBody>
          <a:bodyPr lIns="0" tIns="0" rIns="0" bIns="0" anchor="t"/>
          <a:lstStyle>
            <a:defPPr>
              <a:defRPr sz="2100" b="0">
                <a:solidFill>
                  <a:srgbClr val="153D4B"/>
                </a:solidFill>
                <a:latin typeface="Arial" panose="020B0604020202020204"/>
                <a:ea typeface="Arial" panose="020B0604020202020204"/>
                <a:cs typeface="Arial" panose="020B0604020202020204"/>
              </a:defRPr>
            </a:defPPr>
          </a:lstStyle>
          <a:p>
            <a:pPr>
              <a:defRPr sz="2100" b="0">
                <a:solidFill>
                  <a:srgbClr val="153D4B"/>
                </a:solidFill>
                <a:latin typeface="Arial" panose="020B0604020202020204"/>
                <a:ea typeface="Arial" panose="020B0604020202020204"/>
                <a:cs typeface="Arial" panose="020B0604020202020204"/>
              </a:defRPr>
            </a:pPr>
            <a:r>
              <a:rPr sz="2100" b="0">
                <a:solidFill>
                  <a:srgbClr val="153D4B"/>
                </a:solidFill>
                <a:latin typeface="Arial" panose="020B0604020202020204"/>
                <a:ea typeface="Arial" panose="020B0604020202020204"/>
                <a:cs typeface="Arial" panose="020B0604020202020204"/>
              </a:rPr>
              <a:t>rainfall in one hour at HKO</a:t>
            </a:r>
            <a:endParaRPr sz="2100" b="0">
              <a:solidFill>
                <a:srgbClr val="153D4B"/>
              </a:solidFill>
              <a:latin typeface="Arial" panose="020B0604020202020204"/>
              <a:ea typeface="Arial" panose="020B0604020202020204"/>
              <a:cs typeface="Arial" panose="020B0604020202020204"/>
            </a:endParaRPr>
          </a:p>
          <a:p>
            <a:pPr>
              <a:defRPr sz="2100" b="0">
                <a:solidFill>
                  <a:srgbClr val="153D4B"/>
                </a:solidFill>
                <a:latin typeface="Arial" panose="020B0604020202020204"/>
                <a:ea typeface="Arial" panose="020B0604020202020204"/>
                <a:cs typeface="Arial" panose="020B0604020202020204"/>
              </a:defRPr>
            </a:pPr>
            <a:r>
              <a:rPr sz="2100" b="0">
                <a:solidFill>
                  <a:srgbClr val="153D4B"/>
                </a:solidFill>
                <a:latin typeface="Arial" panose="020B0604020202020204"/>
                <a:ea typeface="Arial" panose="020B0604020202020204"/>
                <a:cs typeface="Arial" panose="020B0604020202020204"/>
              </a:rPr>
              <a:t>7 September 2023, 23:00–24:00</a:t>
            </a:r>
            <a:endParaRPr sz="2100"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09600" y="4333875"/>
            <a:ext cx="10858500" cy="1381125"/>
          </a:xfrm>
          <a:prstGeom prst="rect">
            <a:avLst/>
          </a:prstGeom>
          <a:noFill/>
          <a:ln w="0">
            <a:noFill/>
          </a:ln>
        </p:spPr>
        <p:txBody>
          <a:bodyPr lIns="0" tIns="0" rIns="0" bIns="0" anchor="t"/>
          <a:lstStyle>
            <a:defPPr>
              <a:defRPr sz="2550" b="0">
                <a:solidFill>
                  <a:srgbClr val="153D4B"/>
                </a:solidFill>
                <a:latin typeface="Arial" panose="020B0604020202020204"/>
                <a:ea typeface="Arial" panose="020B0604020202020204"/>
                <a:cs typeface="Arial" panose="020B0604020202020204"/>
              </a:defRPr>
            </a:defPPr>
          </a:lstStyle>
          <a:p>
            <a:pPr>
              <a:defRPr sz="2550" b="0">
                <a:solidFill>
                  <a:srgbClr val="153D4B"/>
                </a:solidFill>
                <a:latin typeface="Arial" panose="020B0604020202020204"/>
                <a:ea typeface="Arial" panose="020B0604020202020204"/>
                <a:cs typeface="Arial" panose="020B0604020202020204"/>
              </a:defRPr>
            </a:pPr>
            <a:r>
              <a:rPr sz="2550" b="0">
                <a:solidFill>
                  <a:srgbClr val="153D4B"/>
                </a:solidFill>
                <a:latin typeface="Arial" panose="020B0604020202020204"/>
                <a:ea typeface="Arial" panose="020B0604020202020204"/>
                <a:cs typeface="Arial" panose="020B0604020202020204"/>
              </a:rPr>
              <a:t>A traveller still has to decide whether the entire trip is feasible, how much time to allow, and when an alternative stops being useful.</a:t>
            </a:r>
            <a:endParaRPr sz="2550" b="0">
              <a:solidFill>
                <a:srgbClr val="153D4B"/>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9" name="矩形 8"/>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The first users have a deadline</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04</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Project scope and research plan: original project proposal. User interviews and field trials remain pending.</a:t>
            </a:r>
            <a:endParaRPr sz="1125" b="0">
              <a:solidFill>
                <a:srgbClr val="4F636B"/>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666750" y="1820130"/>
            <a:ext cx="3238500" cy="4027365"/>
          </a:xfrm>
          <a:prstGeom prst="rect">
            <a:avLst/>
          </a:prstGeom>
        </p:spPr>
      </p:pic>
      <p:sp>
        <p:nvSpPr>
          <p:cNvPr id="5" name="矩形 4"/>
          <p:cNvSpPr>
            <a:spLocks noGrp="1"/>
          </p:cNvSpPr>
          <p:nvPr/>
        </p:nvSpPr>
        <p:spPr>
          <a:xfrm>
            <a:off x="4524375" y="1676400"/>
            <a:ext cx="7000875" cy="476250"/>
          </a:xfrm>
          <a:prstGeom prst="rect">
            <a:avLst/>
          </a:prstGeom>
          <a:noFill/>
          <a:ln w="0">
            <a:noFill/>
          </a:ln>
        </p:spPr>
        <p:txBody>
          <a:bodyPr lIns="0" tIns="0" rIns="0" bIns="0" anchor="t"/>
          <a:lstStyle>
            <a:defPPr>
              <a:defRPr sz="2325" b="1">
                <a:solidFill>
                  <a:srgbClr val="087D76"/>
                </a:solidFill>
                <a:latin typeface="Arial" panose="020B0604020202020204"/>
                <a:ea typeface="Arial" panose="020B0604020202020204"/>
                <a:cs typeface="Arial" panose="020B0604020202020204"/>
              </a:defRPr>
            </a:defPPr>
          </a:lstStyle>
          <a:p>
            <a:pPr>
              <a:defRPr sz="2325" b="1">
                <a:solidFill>
                  <a:srgbClr val="087D76"/>
                </a:solidFill>
                <a:latin typeface="Arial" panose="020B0604020202020204"/>
                <a:ea typeface="Arial" panose="020B0604020202020204"/>
                <a:cs typeface="Arial" panose="020B0604020202020204"/>
              </a:defRPr>
            </a:pPr>
            <a:r>
              <a:rPr sz="2325" b="1">
                <a:solidFill>
                  <a:srgbClr val="087D76"/>
                </a:solidFill>
                <a:latin typeface="Arial" panose="020B0604020202020204"/>
                <a:ea typeface="Arial" panose="020B0604020202020204"/>
                <a:cs typeface="Arial" panose="020B0604020202020204"/>
              </a:rPr>
              <a:t>Fixed commute, visible constraints</a:t>
            </a:r>
            <a:endParaRPr sz="2325" b="1">
              <a:solidFill>
                <a:srgbClr val="087D76"/>
              </a:solidFill>
              <a:latin typeface="Arial" panose="020B0604020202020204"/>
              <a:ea typeface="Arial" panose="020B0604020202020204"/>
              <a:cs typeface="Arial" panose="020B0604020202020204"/>
            </a:endParaRPr>
          </a:p>
        </p:txBody>
      </p:sp>
      <p:sp>
        <p:nvSpPr>
          <p:cNvPr id="6" name="矩形 5"/>
          <p:cNvSpPr>
            <a:spLocks noGrp="1"/>
          </p:cNvSpPr>
          <p:nvPr/>
        </p:nvSpPr>
        <p:spPr>
          <a:xfrm>
            <a:off x="4524375" y="2238375"/>
            <a:ext cx="6619875" cy="1047750"/>
          </a:xfrm>
          <a:prstGeom prst="rect">
            <a:avLst/>
          </a:prstGeom>
          <a:noFill/>
          <a:ln w="0">
            <a:noFill/>
          </a:ln>
        </p:spPr>
        <p:txBody>
          <a:bodyPr lIns="0" tIns="0" rIns="0" bIns="0" anchor="t"/>
          <a:lstStyle>
            <a:defPPr>
              <a:defRPr sz="2025" b="0">
                <a:solidFill>
                  <a:srgbClr val="153D4B"/>
                </a:solidFill>
                <a:latin typeface="Arial" panose="020B0604020202020204"/>
                <a:ea typeface="Arial" panose="020B0604020202020204"/>
                <a:cs typeface="Arial" panose="020B0604020202020204"/>
              </a:defRPr>
            </a:defPPr>
          </a:lstStyle>
          <a:p>
            <a:pPr>
              <a:defRPr sz="2025" b="0">
                <a:solidFill>
                  <a:srgbClr val="153D4B"/>
                </a:solidFill>
                <a:latin typeface="Arial" panose="020B0604020202020204"/>
                <a:ea typeface="Arial" panose="020B0604020202020204"/>
                <a:cs typeface="Arial" panose="020B0604020202020204"/>
              </a:defRPr>
            </a:pPr>
            <a:r>
              <a:rPr sz="2025" b="0">
                <a:solidFill>
                  <a:srgbClr val="153D4B"/>
                </a:solidFill>
                <a:latin typeface="Arial" panose="020B0604020202020204"/>
                <a:ea typeface="Arial" panose="020B0604020202020204"/>
                <a:cs typeface="Arial" panose="020B0604020202020204"/>
              </a:rPr>
              <a:t>A traveller enters an origin, destination and latest arrival time, then sets limits for extra cost and transfers.</a:t>
            </a:r>
            <a:endParaRPr sz="2025" b="0">
              <a:solidFill>
                <a:srgbClr val="153D4B"/>
              </a:solidFill>
              <a:latin typeface="Arial" panose="020B0604020202020204"/>
              <a:ea typeface="Arial" panose="020B0604020202020204"/>
              <a:cs typeface="Arial" panose="020B0604020202020204"/>
            </a:endParaRPr>
          </a:p>
        </p:txBody>
      </p:sp>
      <p:sp>
        <p:nvSpPr>
          <p:cNvPr id="7" name="矩形 6"/>
          <p:cNvSpPr>
            <a:spLocks noGrp="1"/>
          </p:cNvSpPr>
          <p:nvPr/>
        </p:nvSpPr>
        <p:spPr>
          <a:xfrm>
            <a:off x="4524375" y="3514725"/>
            <a:ext cx="6619875" cy="1000125"/>
          </a:xfrm>
          <a:prstGeom prst="rect">
            <a:avLst/>
          </a:prstGeom>
          <a:noFill/>
          <a:ln w="0">
            <a:noFill/>
          </a:ln>
        </p:spPr>
        <p:txBody>
          <a:bodyPr lIns="0" tIns="0" rIns="0" bIns="0" anchor="t"/>
          <a:lstStyle>
            <a:defPPr>
              <a:defRPr sz="2025" b="0">
                <a:solidFill>
                  <a:srgbClr val="153D4B"/>
                </a:solidFill>
                <a:latin typeface="Arial" panose="020B0604020202020204"/>
                <a:ea typeface="Arial" panose="020B0604020202020204"/>
                <a:cs typeface="Arial" panose="020B0604020202020204"/>
              </a:defRPr>
            </a:defPPr>
          </a:lstStyle>
          <a:p>
            <a:pPr>
              <a:defRPr sz="2025" b="0">
                <a:solidFill>
                  <a:srgbClr val="153D4B"/>
                </a:solidFill>
                <a:latin typeface="Arial" panose="020B0604020202020204"/>
                <a:ea typeface="Arial" panose="020B0604020202020204"/>
                <a:cs typeface="Arial" panose="020B0604020202020204"/>
              </a:defRPr>
            </a:pPr>
            <a:r>
              <a:rPr sz="2025" b="0">
                <a:solidFill>
                  <a:srgbClr val="153D4B"/>
                </a:solidFill>
                <a:latin typeface="Arial" panose="020B0604020202020204"/>
                <a:ea typeface="Arial" panose="020B0604020202020204"/>
                <a:cs typeface="Arial" panose="020B0604020202020204"/>
              </a:rPr>
              <a:t>The same screen can switch between normal, rain and transport-disruption fixtures.</a:t>
            </a:r>
            <a:endParaRPr sz="2025"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4524375" y="4914900"/>
            <a:ext cx="6619875" cy="1000125"/>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The first target users are students and workers with repeated trips and a hard deadline. Interviews and field trials remain pending.</a:t>
            </a:r>
            <a:endParaRPr sz="1875" b="0">
              <a:solidFill>
                <a:srgbClr val="153D4B"/>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6" name="矩形 5"/>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 working route comparison</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05</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Actual local prototype screenshot, 17 October 2026. Fixed demonstration data. English translation below.</a:t>
            </a:r>
            <a:endParaRPr sz="1125" b="0">
              <a:solidFill>
                <a:srgbClr val="4F636B"/>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1378527" y="1524000"/>
            <a:ext cx="9434945" cy="2286000"/>
          </a:xfrm>
          <a:prstGeom prst="rect">
            <a:avLst/>
          </a:prstGeom>
        </p:spPr>
      </p:pic>
      <p:graphicFrame>
        <p:nvGraphicFramePr>
          <p:cNvPr id="5" name="表格 4"/>
          <p:cNvGraphicFramePr/>
          <p:nvPr/>
        </p:nvGraphicFramePr>
        <p:xfrm>
          <a:off x="609600" y="3886200"/>
          <a:ext cx="10972800" cy="2286000"/>
        </p:xfrm>
        <a:graphic>
          <a:graphicData uri="http://schemas.openxmlformats.org/drawingml/2006/table">
            <a:tbl>
              <a:tblPr/>
              <a:tblGrid>
                <a:gridCol w="3657600"/>
                <a:gridCol w="3657600"/>
                <a:gridCol w="3657600"/>
              </a:tblGrid>
              <a:tr h="571500">
                <a:tc>
                  <a:txBody>
                    <a:bodyPr/>
                    <a:lstStyle/>
                    <a:p>
                      <a:r>
                        <a:rPr sz="1725" b="1">
                          <a:solidFill>
                            <a:srgbClr val="FFFFFF"/>
                          </a:solidFill>
                          <a:latin typeface="Arial" panose="020B0604020202020204"/>
                          <a:ea typeface="Arial" panose="020B0604020202020204"/>
                          <a:cs typeface="Arial" panose="020B0604020202020204"/>
                        </a:rPr>
                        <a:t>Recommended: Lok Ma Chau</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c>
                  <a:txBody>
                    <a:bodyPr/>
                    <a:lstStyle/>
                    <a:p>
                      <a:r>
                        <a:rPr sz="1725" b="1">
                          <a:solidFill>
                            <a:srgbClr val="FFFFFF"/>
                          </a:solidFill>
                          <a:latin typeface="Arial" panose="020B0604020202020204"/>
                          <a:ea typeface="Arial" panose="020B0604020202020204"/>
                          <a:cs typeface="Arial" panose="020B0604020202020204"/>
                        </a:rPr>
                        <a:t>Alternative: Lo Wu</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c>
                  <a:txBody>
                    <a:bodyPr/>
                    <a:lstStyle/>
                    <a:p>
                      <a:r>
                        <a:rPr sz="1725" b="1">
                          <a:solidFill>
                            <a:srgbClr val="FFFFFF"/>
                          </a:solidFill>
                          <a:latin typeface="Arial" panose="020B0604020202020204"/>
                          <a:ea typeface="Arial" panose="020B0604020202020204"/>
                          <a:cs typeface="Arial" panose="020B0604020202020204"/>
                        </a:rPr>
                        <a:t>Alternative: Shenzhen Bay</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r>
              <a:tr h="571500">
                <a:tc>
                  <a:txBody>
                    <a:bodyPr/>
                    <a:lstStyle/>
                    <a:p>
                      <a:r>
                        <a:rPr sz="1650" b="0">
                          <a:solidFill>
                            <a:srgbClr val="153D4B"/>
                          </a:solidFill>
                          <a:latin typeface="Arial" panose="020B0604020202020204"/>
                          <a:ea typeface="Arial" panose="020B0604020202020204"/>
                          <a:cs typeface="Arial" panose="020B0604020202020204"/>
                        </a:rPr>
                        <a:t>81 min + queue and buffer</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91 min + queue and buffer</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132 min + queue and buffer</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r>
              <a:tr h="571500">
                <a:tc>
                  <a:txBody>
                    <a:bodyPr/>
                    <a:lstStyle/>
                    <a:p>
                      <a:r>
                        <a:rPr sz="1650" b="0">
                          <a:solidFill>
                            <a:srgbClr val="153D4B"/>
                          </a:solidFill>
                          <a:latin typeface="Arial" panose="020B0604020202020204"/>
                          <a:ea typeface="Arial" panose="020B0604020202020204"/>
                          <a:cs typeface="Arial" panose="020B0604020202020204"/>
                        </a:rPr>
                        <a:t>Arrival 09:33–09:59</a:t>
                      </a:r>
                      <a:endParaRPr sz="1650" b="0">
                        <a:solidFill>
                          <a:srgbClr val="153D4B"/>
                        </a:solidFill>
                        <a:latin typeface="Arial" panose="020B0604020202020204"/>
                        <a:ea typeface="Arial" panose="020B0604020202020204"/>
                        <a:cs typeface="Arial" panose="020B0604020202020204"/>
                      </a:endParaRPr>
                    </a:p>
                    <a:p>
                      <a:r>
                        <a:rPr sz="1650" b="0">
                          <a:solidFill>
                            <a:srgbClr val="153D4B"/>
                          </a:solidFill>
                          <a:latin typeface="Arial" panose="020B0604020202020204"/>
                          <a:ea typeface="Arial" panose="020B0604020202020204"/>
                          <a:cs typeface="Arial" panose="020B0604020202020204"/>
                        </a:rPr>
                        <a:t>Low risk / Medium confidence</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E8F2F0"/>
                    </a:solidFill>
                  </a:tcPr>
                </a:tc>
                <a:tc>
                  <a:txBody>
                    <a:bodyPr/>
                    <a:lstStyle/>
                    <a:p>
                      <a:r>
                        <a:rPr sz="1650" b="0">
                          <a:solidFill>
                            <a:srgbClr val="153D4B"/>
                          </a:solidFill>
                          <a:latin typeface="Arial" panose="020B0604020202020204"/>
                          <a:ea typeface="Arial" panose="020B0604020202020204"/>
                          <a:cs typeface="Arial" panose="020B0604020202020204"/>
                        </a:rPr>
                        <a:t>Arrival 09:49–10:31</a:t>
                      </a:r>
                      <a:endParaRPr sz="1650" b="0">
                        <a:solidFill>
                          <a:srgbClr val="153D4B"/>
                        </a:solidFill>
                        <a:latin typeface="Arial" panose="020B0604020202020204"/>
                        <a:ea typeface="Arial" panose="020B0604020202020204"/>
                        <a:cs typeface="Arial" panose="020B0604020202020204"/>
                      </a:endParaRPr>
                    </a:p>
                    <a:p>
                      <a:r>
                        <a:rPr sz="1650" b="0">
                          <a:solidFill>
                            <a:srgbClr val="153D4B"/>
                          </a:solidFill>
                          <a:latin typeface="Arial" panose="020B0604020202020204"/>
                          <a:ea typeface="Arial" panose="020B0604020202020204"/>
                          <a:cs typeface="Arial" panose="020B0604020202020204"/>
                        </a:rPr>
                        <a:t>Medium risk / Low confidence</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E8F2F0"/>
                    </a:solidFill>
                  </a:tcPr>
                </a:tc>
                <a:tc>
                  <a:txBody>
                    <a:bodyPr/>
                    <a:lstStyle/>
                    <a:p>
                      <a:r>
                        <a:rPr sz="1650" b="0">
                          <a:solidFill>
                            <a:srgbClr val="153D4B"/>
                          </a:solidFill>
                          <a:latin typeface="Arial" panose="020B0604020202020204"/>
                          <a:ea typeface="Arial" panose="020B0604020202020204"/>
                          <a:cs typeface="Arial" panose="020B0604020202020204"/>
                        </a:rPr>
                        <a:t>Arrival 10:32–11:17</a:t>
                      </a:r>
                      <a:endParaRPr sz="1650" b="0">
                        <a:solidFill>
                          <a:srgbClr val="153D4B"/>
                        </a:solidFill>
                        <a:latin typeface="Arial" panose="020B0604020202020204"/>
                        <a:ea typeface="Arial" panose="020B0604020202020204"/>
                        <a:cs typeface="Arial" panose="020B0604020202020204"/>
                      </a:endParaRPr>
                    </a:p>
                    <a:p>
                      <a:r>
                        <a:rPr sz="1650" b="0">
                          <a:solidFill>
                            <a:srgbClr val="153D4B"/>
                          </a:solidFill>
                          <a:latin typeface="Arial" panose="020B0604020202020204"/>
                          <a:ea typeface="Arial" panose="020B0604020202020204"/>
                          <a:cs typeface="Arial" panose="020B0604020202020204"/>
                        </a:rPr>
                        <a:t>Medium risk / Low confidence</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E8F2F0"/>
                    </a:solidFill>
                  </a:tcPr>
                </a:tc>
              </a:tr>
              <a:tr h="571500">
                <a:tc>
                  <a:txBody>
                    <a:bodyPr/>
                    <a:lstStyle/>
                    <a:p>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FFFFFF"/>
                    </a:solidFill>
                  </a:tcPr>
                </a:tc>
                <a:tc>
                  <a:txBody>
                    <a:bodyPr/>
                    <a:lstStyle/>
                    <a:p>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Conservative ETA misses deadline</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3" name="矩形 12"/>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The response changes with the scenario</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06</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Sources: archived browser QA captures (13 Oct 2026) and release recheck (17 Oct 2026).</a:t>
            </a:r>
            <a:endParaRPr sz="1125" b="0">
              <a:solidFill>
                <a:srgbClr val="4F636B"/>
              </a:solidFill>
              <a:latin typeface="Arial" panose="020B0604020202020204"/>
              <a:ea typeface="Arial" panose="020B0604020202020204"/>
              <a:cs typeface="Arial" panose="020B0604020202020204"/>
            </a:endParaRPr>
          </a:p>
        </p:txBody>
      </p:sp>
      <p:sp>
        <p:nvSpPr>
          <p:cNvPr id="4" name="矩形 3"/>
          <p:cNvSpPr>
            <a:spLocks noGrp="1"/>
          </p:cNvSpPr>
          <p:nvPr/>
        </p:nvSpPr>
        <p:spPr>
          <a:xfrm>
            <a:off x="800100" y="1495425"/>
            <a:ext cx="3238500" cy="428625"/>
          </a:xfrm>
          <a:prstGeom prst="rect">
            <a:avLst/>
          </a:prstGeom>
          <a:noFill/>
          <a:ln w="0">
            <a:noFill/>
          </a:ln>
        </p:spPr>
        <p:txBody>
          <a:bodyPr lIns="0" tIns="0" rIns="0" bIns="0" anchor="t"/>
          <a:lstStyle>
            <a:defPPr>
              <a:defRPr sz="2175" b="1">
                <a:solidFill>
                  <a:srgbClr val="087D76"/>
                </a:solidFill>
                <a:latin typeface="Arial" panose="020B0604020202020204"/>
                <a:ea typeface="Arial" panose="020B0604020202020204"/>
                <a:cs typeface="Arial" panose="020B0604020202020204"/>
              </a:defRPr>
            </a:defPPr>
          </a:lstStyle>
          <a:p>
            <a:pPr>
              <a:defRPr sz="2175" b="1">
                <a:solidFill>
                  <a:srgbClr val="087D76"/>
                </a:solidFill>
                <a:latin typeface="Arial" panose="020B0604020202020204"/>
                <a:ea typeface="Arial" panose="020B0604020202020204"/>
                <a:cs typeface="Arial" panose="020B0604020202020204"/>
              </a:defRPr>
            </a:pPr>
            <a:r>
              <a:rPr sz="2175" b="1">
                <a:solidFill>
                  <a:srgbClr val="087D76"/>
                </a:solidFill>
                <a:latin typeface="Arial" panose="020B0604020202020204"/>
                <a:ea typeface="Arial" panose="020B0604020202020204"/>
                <a:cs typeface="Arial" panose="020B0604020202020204"/>
              </a:rPr>
              <a:t>Normal</a:t>
            </a:r>
            <a:endParaRPr sz="2175" b="1">
              <a:solidFill>
                <a:srgbClr val="087D76"/>
              </a:solidFill>
              <a:latin typeface="Arial" panose="020B0604020202020204"/>
              <a:ea typeface="Arial" panose="020B0604020202020204"/>
              <a:cs typeface="Arial" panose="020B0604020202020204"/>
            </a:endParaRPr>
          </a:p>
        </p:txBody>
      </p:sp>
      <p:sp>
        <p:nvSpPr>
          <p:cNvPr id="5" name="矩形 4"/>
          <p:cNvSpPr>
            <a:spLocks noGrp="1"/>
          </p:cNvSpPr>
          <p:nvPr/>
        </p:nvSpPr>
        <p:spPr>
          <a:xfrm>
            <a:off x="4524375" y="1495425"/>
            <a:ext cx="3238500" cy="428625"/>
          </a:xfrm>
          <a:prstGeom prst="rect">
            <a:avLst/>
          </a:prstGeom>
          <a:noFill/>
          <a:ln w="0">
            <a:noFill/>
          </a:ln>
        </p:spPr>
        <p:txBody>
          <a:bodyPr lIns="0" tIns="0" rIns="0" bIns="0" anchor="t"/>
          <a:lstStyle>
            <a:defPPr>
              <a:defRPr sz="2175" b="1">
                <a:solidFill>
                  <a:srgbClr val="087D76"/>
                </a:solidFill>
                <a:latin typeface="Arial" panose="020B0604020202020204"/>
                <a:ea typeface="Arial" panose="020B0604020202020204"/>
                <a:cs typeface="Arial" panose="020B0604020202020204"/>
              </a:defRPr>
            </a:defPPr>
          </a:lstStyle>
          <a:p>
            <a:pPr>
              <a:defRPr sz="2175" b="1">
                <a:solidFill>
                  <a:srgbClr val="087D76"/>
                </a:solidFill>
                <a:latin typeface="Arial" panose="020B0604020202020204"/>
                <a:ea typeface="Arial" panose="020B0604020202020204"/>
                <a:cs typeface="Arial" panose="020B0604020202020204"/>
              </a:defRPr>
            </a:pPr>
            <a:r>
              <a:rPr sz="2175" b="1">
                <a:solidFill>
                  <a:srgbClr val="087D76"/>
                </a:solidFill>
                <a:latin typeface="Arial" panose="020B0604020202020204"/>
                <a:ea typeface="Arial" panose="020B0604020202020204"/>
                <a:cs typeface="Arial" panose="020B0604020202020204"/>
              </a:rPr>
              <a:t>Heavy rain</a:t>
            </a:r>
            <a:endParaRPr sz="2175" b="1">
              <a:solidFill>
                <a:srgbClr val="087D76"/>
              </a:solidFill>
              <a:latin typeface="Arial" panose="020B0604020202020204"/>
              <a:ea typeface="Arial" panose="020B0604020202020204"/>
              <a:cs typeface="Arial" panose="020B0604020202020204"/>
            </a:endParaRPr>
          </a:p>
        </p:txBody>
      </p:sp>
      <p:sp>
        <p:nvSpPr>
          <p:cNvPr id="6" name="矩形 5"/>
          <p:cNvSpPr>
            <a:spLocks noGrp="1"/>
          </p:cNvSpPr>
          <p:nvPr/>
        </p:nvSpPr>
        <p:spPr>
          <a:xfrm>
            <a:off x="8239125" y="1495425"/>
            <a:ext cx="3238500" cy="428625"/>
          </a:xfrm>
          <a:prstGeom prst="rect">
            <a:avLst/>
          </a:prstGeom>
          <a:noFill/>
          <a:ln w="0">
            <a:noFill/>
          </a:ln>
        </p:spPr>
        <p:txBody>
          <a:bodyPr lIns="0" tIns="0" rIns="0" bIns="0" anchor="t"/>
          <a:lstStyle>
            <a:defPPr>
              <a:defRPr sz="2175" b="1">
                <a:solidFill>
                  <a:srgbClr val="087D76"/>
                </a:solidFill>
                <a:latin typeface="Arial" panose="020B0604020202020204"/>
                <a:ea typeface="Arial" panose="020B0604020202020204"/>
                <a:cs typeface="Arial" panose="020B0604020202020204"/>
              </a:defRPr>
            </a:defPPr>
          </a:lstStyle>
          <a:p>
            <a:pPr>
              <a:defRPr sz="2175" b="1">
                <a:solidFill>
                  <a:srgbClr val="087D76"/>
                </a:solidFill>
                <a:latin typeface="Arial" panose="020B0604020202020204"/>
                <a:ea typeface="Arial" panose="020B0604020202020204"/>
                <a:cs typeface="Arial" panose="020B0604020202020204"/>
              </a:defRPr>
            </a:pPr>
            <a:r>
              <a:rPr sz="2175" b="1">
                <a:solidFill>
                  <a:srgbClr val="087D76"/>
                </a:solidFill>
                <a:latin typeface="Arial" panose="020B0604020202020204"/>
                <a:ea typeface="Arial" panose="020B0604020202020204"/>
                <a:cs typeface="Arial" panose="020B0604020202020204"/>
              </a:rPr>
              <a:t>Transport disruption</a:t>
            </a:r>
            <a:endParaRPr sz="2175" b="1">
              <a:solidFill>
                <a:srgbClr val="087D76"/>
              </a:solidFill>
              <a:latin typeface="Arial" panose="020B0604020202020204"/>
              <a:ea typeface="Arial" panose="020B0604020202020204"/>
              <a:cs typeface="Arial" panose="020B0604020202020204"/>
            </a:endParaRPr>
          </a:p>
        </p:txBody>
      </p:sp>
      <p:pic>
        <p:nvPicPr>
          <p:cNvPr id="7" name="图片 6"/>
          <p:cNvPicPr>
            <a:picLocks noChangeAspect="1"/>
          </p:cNvPicPr>
          <p:nvPr/>
        </p:nvPicPr>
        <p:blipFill>
          <a:blip r:embed="rId1"/>
          <a:stretch>
            <a:fillRect/>
          </a:stretch>
        </p:blipFill>
        <p:spPr>
          <a:xfrm>
            <a:off x="901430" y="1952625"/>
            <a:ext cx="2845340" cy="3429000"/>
          </a:xfrm>
          <a:prstGeom prst="rect">
            <a:avLst/>
          </a:prstGeom>
        </p:spPr>
      </p:pic>
      <p:pic>
        <p:nvPicPr>
          <p:cNvPr id="8" name="图片 7"/>
          <p:cNvPicPr>
            <a:picLocks noChangeAspect="1"/>
          </p:cNvPicPr>
          <p:nvPr/>
        </p:nvPicPr>
        <p:blipFill>
          <a:blip r:embed="rId2"/>
          <a:stretch>
            <a:fillRect/>
          </a:stretch>
        </p:blipFill>
        <p:spPr>
          <a:xfrm>
            <a:off x="4625705" y="1952625"/>
            <a:ext cx="2845340" cy="3429000"/>
          </a:xfrm>
          <a:prstGeom prst="rect">
            <a:avLst/>
          </a:prstGeom>
        </p:spPr>
      </p:pic>
      <p:pic>
        <p:nvPicPr>
          <p:cNvPr id="9" name="图片 8"/>
          <p:cNvPicPr>
            <a:picLocks noChangeAspect="1"/>
          </p:cNvPicPr>
          <p:nvPr/>
        </p:nvPicPr>
        <p:blipFill>
          <a:blip r:embed="rId3"/>
          <a:stretch>
            <a:fillRect/>
          </a:stretch>
        </p:blipFill>
        <p:spPr>
          <a:xfrm>
            <a:off x="8340455" y="1952625"/>
            <a:ext cx="2845340" cy="3429000"/>
          </a:xfrm>
          <a:prstGeom prst="rect">
            <a:avLst/>
          </a:prstGeom>
        </p:spPr>
      </p:pic>
      <p:sp>
        <p:nvSpPr>
          <p:cNvPr id="10" name="矩形 9"/>
          <p:cNvSpPr>
            <a:spLocks noGrp="1"/>
          </p:cNvSpPr>
          <p:nvPr/>
        </p:nvSpPr>
        <p:spPr>
          <a:xfrm>
            <a:off x="742950" y="5562600"/>
            <a:ext cx="3257550" cy="381000"/>
          </a:xfrm>
          <a:prstGeom prst="rect">
            <a:avLst/>
          </a:prstGeom>
          <a:noFill/>
          <a:ln w="0">
            <a:noFill/>
          </a:ln>
        </p:spPr>
        <p:txBody>
          <a:bodyPr lIns="0" tIns="0" rIns="0" bIns="0" anchor="t"/>
          <a:lstStyle>
            <a:defPPr>
              <a:defRPr sz="1800" b="0">
                <a:solidFill>
                  <a:srgbClr val="153D4B"/>
                </a:solidFill>
                <a:latin typeface="Arial" panose="020B0604020202020204"/>
                <a:ea typeface="Arial" panose="020B0604020202020204"/>
                <a:cs typeface="Arial" panose="020B0604020202020204"/>
              </a:defRPr>
            </a:defPPr>
          </a:lstStyle>
          <a:p>
            <a:pPr>
              <a:defRPr sz="1800" b="0">
                <a:solidFill>
                  <a:srgbClr val="153D4B"/>
                </a:solidFill>
                <a:latin typeface="Arial" panose="020B0604020202020204"/>
                <a:ea typeface="Arial" panose="020B0604020202020204"/>
                <a:cs typeface="Arial" panose="020B0604020202020204"/>
              </a:defRPr>
            </a:pPr>
            <a:r>
              <a:rPr sz="1800" b="0">
                <a:solidFill>
                  <a:srgbClr val="153D4B"/>
                </a:solidFill>
                <a:latin typeface="Arial" panose="020B0604020202020204"/>
                <a:ea typeface="Arial" panose="020B0604020202020204"/>
                <a:cs typeface="Arial" panose="020B0604020202020204"/>
              </a:rPr>
              <a:t>08:09 · high confidence</a:t>
            </a:r>
            <a:endParaRPr sz="1800" b="0">
              <a:solidFill>
                <a:srgbClr val="153D4B"/>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4457700" y="5562600"/>
            <a:ext cx="3333750" cy="381000"/>
          </a:xfrm>
          <a:prstGeom prst="rect">
            <a:avLst/>
          </a:prstGeom>
          <a:noFill/>
          <a:ln w="0">
            <a:noFill/>
          </a:ln>
        </p:spPr>
        <p:txBody>
          <a:bodyPr lIns="0" tIns="0" rIns="0" bIns="0" anchor="t"/>
          <a:lstStyle>
            <a:defPPr>
              <a:defRPr sz="1800" b="0">
                <a:solidFill>
                  <a:srgbClr val="153D4B"/>
                </a:solidFill>
                <a:latin typeface="Arial" panose="020B0604020202020204"/>
                <a:ea typeface="Arial" panose="020B0604020202020204"/>
                <a:cs typeface="Arial" panose="020B0604020202020204"/>
              </a:defRPr>
            </a:defPPr>
          </a:lstStyle>
          <a:p>
            <a:pPr>
              <a:defRPr sz="1800" b="0">
                <a:solidFill>
                  <a:srgbClr val="153D4B"/>
                </a:solidFill>
                <a:latin typeface="Arial" panose="020B0604020202020204"/>
                <a:ea typeface="Arial" panose="020B0604020202020204"/>
                <a:cs typeface="Arial" panose="020B0604020202020204"/>
              </a:defRPr>
            </a:pPr>
            <a:r>
              <a:rPr sz="1800" b="0">
                <a:solidFill>
                  <a:srgbClr val="153D4B"/>
                </a:solidFill>
                <a:latin typeface="Arial" panose="020B0604020202020204"/>
                <a:ea typeface="Arial" panose="020B0604020202020204"/>
                <a:cs typeface="Arial" panose="020B0604020202020204"/>
              </a:rPr>
              <a:t>07:58 · medium confidence</a:t>
            </a:r>
            <a:endParaRPr sz="1800" b="0">
              <a:solidFill>
                <a:srgbClr val="153D4B"/>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8191500" y="5562600"/>
            <a:ext cx="3333750" cy="381000"/>
          </a:xfrm>
          <a:prstGeom prst="rect">
            <a:avLst/>
          </a:prstGeom>
          <a:noFill/>
          <a:ln w="0">
            <a:noFill/>
          </a:ln>
        </p:spPr>
        <p:txBody>
          <a:bodyPr lIns="0" tIns="0" rIns="0" bIns="0" anchor="t"/>
          <a:lstStyle>
            <a:defPPr>
              <a:defRPr sz="1800" b="0">
                <a:solidFill>
                  <a:srgbClr val="153D4B"/>
                </a:solidFill>
                <a:latin typeface="Arial" panose="020B0604020202020204"/>
                <a:ea typeface="Arial" panose="020B0604020202020204"/>
                <a:cs typeface="Arial" panose="020B0604020202020204"/>
              </a:defRPr>
            </a:defPPr>
          </a:lstStyle>
          <a:p>
            <a:pPr>
              <a:defRPr sz="1800" b="0">
                <a:solidFill>
                  <a:srgbClr val="153D4B"/>
                </a:solidFill>
                <a:latin typeface="Arial" panose="020B0604020202020204"/>
                <a:ea typeface="Arial" panose="020B0604020202020204"/>
                <a:cs typeface="Arial" panose="020B0604020202020204"/>
              </a:defRPr>
            </a:pPr>
            <a:r>
              <a:rPr sz="1800" b="0">
                <a:solidFill>
                  <a:srgbClr val="153D4B"/>
                </a:solidFill>
                <a:latin typeface="Arial" panose="020B0604020202020204"/>
                <a:ea typeface="Arial" panose="020B0604020202020204"/>
                <a:cs typeface="Arial" panose="020B0604020202020204"/>
              </a:rPr>
              <a:t>07:22 · low confidence</a:t>
            </a:r>
            <a:endParaRPr sz="1800" b="0">
              <a:solidFill>
                <a:srgbClr val="153D4B"/>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9" name="矩形 8"/>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Two routing modes with explicit boundaries</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07</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Source: integrated app README, transit data and recorded provider probes.</a:t>
            </a:r>
            <a:endParaRPr sz="1125" b="0">
              <a:solidFill>
                <a:srgbClr val="4F636B"/>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805737" y="1543050"/>
            <a:ext cx="6941976" cy="4724400"/>
          </a:xfrm>
          <a:prstGeom prst="rect">
            <a:avLst/>
          </a:prstGeom>
        </p:spPr>
      </p:pic>
      <p:sp>
        <p:nvSpPr>
          <p:cNvPr id="5" name="矩形 4"/>
          <p:cNvSpPr>
            <a:spLocks noGrp="1"/>
          </p:cNvSpPr>
          <p:nvPr/>
        </p:nvSpPr>
        <p:spPr>
          <a:xfrm>
            <a:off x="8115300" y="1619250"/>
            <a:ext cx="3333750" cy="400050"/>
          </a:xfrm>
          <a:prstGeom prst="rect">
            <a:avLst/>
          </a:prstGeom>
          <a:noFill/>
          <a:ln w="0">
            <a:noFill/>
          </a:ln>
        </p:spPr>
        <p:txBody>
          <a:bodyPr lIns="0" tIns="0" rIns="0" bIns="0" anchor="t"/>
          <a:lstStyle>
            <a:defPPr>
              <a:defRPr sz="2100" b="1">
                <a:solidFill>
                  <a:srgbClr val="087D76"/>
                </a:solidFill>
                <a:latin typeface="Arial" panose="020B0604020202020204"/>
                <a:ea typeface="Arial" panose="020B0604020202020204"/>
                <a:cs typeface="Arial" panose="020B0604020202020204"/>
              </a:defRPr>
            </a:defPPr>
          </a:lstStyle>
          <a:p>
            <a:pPr>
              <a:defRPr sz="2100" b="1">
                <a:solidFill>
                  <a:srgbClr val="087D76"/>
                </a:solidFill>
                <a:latin typeface="Arial" panose="020B0604020202020204"/>
                <a:ea typeface="Arial" panose="020B0604020202020204"/>
                <a:cs typeface="Arial" panose="020B0604020202020204"/>
              </a:defRPr>
            </a:pPr>
            <a:r>
              <a:rPr sz="2100" b="1">
                <a:solidFill>
                  <a:srgbClr val="087D76"/>
                </a:solidFill>
                <a:latin typeface="Arial" panose="020B0604020202020204"/>
                <a:ea typeface="Arial" panose="020B0604020202020204"/>
                <a:cs typeface="Arial" panose="020B0604020202020204"/>
              </a:rPr>
              <a:t>Actual second-stage page</a:t>
            </a:r>
            <a:endParaRPr sz="2100" b="1">
              <a:solidFill>
                <a:srgbClr val="087D76"/>
              </a:solidFill>
              <a:latin typeface="Arial" panose="020B0604020202020204"/>
              <a:ea typeface="Arial" panose="020B0604020202020204"/>
              <a:cs typeface="Arial" panose="020B0604020202020204"/>
            </a:endParaRPr>
          </a:p>
        </p:txBody>
      </p:sp>
      <p:sp>
        <p:nvSpPr>
          <p:cNvPr id="6" name="矩形 5"/>
          <p:cNvSpPr>
            <a:spLocks noGrp="1"/>
          </p:cNvSpPr>
          <p:nvPr/>
        </p:nvSpPr>
        <p:spPr>
          <a:xfrm>
            <a:off x="8115300" y="2124075"/>
            <a:ext cx="3190875" cy="1095375"/>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Trip form, map, risk overlay and scenario replay are visible.</a:t>
            </a:r>
            <a:endParaRPr sz="1875" b="0">
              <a:solidFill>
                <a:srgbClr val="153D4B"/>
              </a:solidFill>
              <a:latin typeface="Arial" panose="020B0604020202020204"/>
              <a:ea typeface="Arial" panose="020B0604020202020204"/>
              <a:cs typeface="Arial" panose="020B0604020202020204"/>
            </a:endParaRPr>
          </a:p>
        </p:txBody>
      </p:sp>
      <p:sp>
        <p:nvSpPr>
          <p:cNvPr id="7" name="矩形 6"/>
          <p:cNvSpPr>
            <a:spLocks noGrp="1"/>
          </p:cNvSpPr>
          <p:nvPr/>
        </p:nvSpPr>
        <p:spPr>
          <a:xfrm>
            <a:off x="8115300" y="3457575"/>
            <a:ext cx="3190875" cy="1095375"/>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9,466 stops and 2,452 usable routes in the HK snapshot.</a:t>
            </a:r>
            <a:endParaRPr sz="1875"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8115300" y="4857750"/>
            <a:ext cx="3190875" cy="1238250"/>
          </a:xfrm>
          <a:prstGeom prst="rect">
            <a:avLst/>
          </a:prstGeom>
          <a:noFill/>
          <a:ln w="0">
            <a:noFill/>
          </a:ln>
        </p:spPr>
        <p:txBody>
          <a:bodyPr lIns="0" tIns="0" rIns="0" bIns="0" anchor="t"/>
          <a:lstStyle>
            <a:defPPr>
              <a:defRPr sz="1725" b="0">
                <a:solidFill>
                  <a:srgbClr val="153D4B"/>
                </a:solidFill>
                <a:latin typeface="Arial" panose="020B0604020202020204"/>
                <a:ea typeface="Arial" panose="020B0604020202020204"/>
                <a:cs typeface="Arial" panose="020B0604020202020204"/>
              </a:defRPr>
            </a:defPPr>
          </a:lstStyle>
          <a:p>
            <a:r>
              <a:rPr sz="2200" b="0">
                <a:solidFill>
                  <a:srgbClr val="183B48"/>
                </a:solidFill>
                <a:latin typeface="Arial"/>
              </a:rPr>
              <a:t>The public Shenzhen leg requires a private server-side Amap key. Static timetables are not live ETAs.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2" name="TextBox 1"/>
          <p:cNvSpPr txBox="1"/>
          <p:nvPr/>
        </p:nvSpPr>
        <p:spPr>
          <a:xfrm>
            <a:off x="612648" y="329184"/>
            <a:ext cx="10789920" cy="658368"/>
          </a:xfrm>
          <a:prstGeom prst="rect">
            <a:avLst/>
          </a:prstGeom>
          <a:noFill/>
        </p:spPr>
        <p:txBody>
          <a:bodyPr wrap="square" lIns="9144" rIns="9144" tIns="9144" bIns="9144" anchor="ctr">
            <a:spAutoFit/>
          </a:bodyPr>
          <a:lstStyle/>
          <a:p>
            <a:pPr algn="l">
              <a:spcAft>
                <a:spcPts val="0"/>
              </a:spcAft>
            </a:pPr>
            <a:r>
              <a:rPr sz="3400" b="1">
                <a:solidFill>
                  <a:srgbClr val="183B48"/>
                </a:solidFill>
                <a:latin typeface="Arial"/>
              </a:rPr>
              <a:t>GenAI explains a structured decision</a:t>
            </a:r>
          </a:p>
        </p:txBody>
      </p:sp>
      <p:sp>
        <p:nvSpPr>
          <p:cNvPr id="3" name="Rectangle 2"/>
          <p:cNvSpPr/>
          <p:nvPr/>
        </p:nvSpPr>
        <p:spPr>
          <a:xfrm>
            <a:off x="621792" y="1216152"/>
            <a:ext cx="82296" cy="4462272"/>
          </a:xfrm>
          <a:prstGeom prst="rect">
            <a:avLst/>
          </a:prstGeom>
          <a:solidFill>
            <a:srgbClr val="007E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 y="1280160"/>
            <a:ext cx="4754880" cy="329184"/>
          </a:xfrm>
          <a:prstGeom prst="rect">
            <a:avLst/>
          </a:prstGeom>
          <a:noFill/>
        </p:spPr>
        <p:txBody>
          <a:bodyPr wrap="square" lIns="9144" rIns="9144" tIns="9144" bIns="9144" anchor="ctr">
            <a:spAutoFit/>
          </a:bodyPr>
          <a:lstStyle/>
          <a:p>
            <a:pPr algn="l">
              <a:spcAft>
                <a:spcPts val="0"/>
              </a:spcAft>
            </a:pPr>
            <a:r>
              <a:rPr sz="1800" b="1">
                <a:solidFill>
                  <a:srgbClr val="007E77"/>
                </a:solidFill>
                <a:latin typeface="Arial"/>
              </a:rPr>
              <a:t>WHAT THE MODEL DOES</a:t>
            </a:r>
          </a:p>
        </p:txBody>
      </p:sp>
      <p:sp>
        <p:nvSpPr>
          <p:cNvPr id="5" name="TextBox 4"/>
          <p:cNvSpPr txBox="1"/>
          <p:nvPr/>
        </p:nvSpPr>
        <p:spPr>
          <a:xfrm>
            <a:off x="877824" y="1673352"/>
            <a:ext cx="5029200" cy="987552"/>
          </a:xfrm>
          <a:prstGeom prst="rect">
            <a:avLst/>
          </a:prstGeom>
          <a:noFill/>
        </p:spPr>
        <p:txBody>
          <a:bodyPr wrap="square" lIns="9144" rIns="9144" tIns="9144" bIns="9144" anchor="ctr">
            <a:spAutoFit/>
          </a:bodyPr>
          <a:lstStyle/>
          <a:p>
            <a:pPr algn="l">
              <a:spcAft>
                <a:spcPts val="0"/>
              </a:spcAft>
            </a:pPr>
            <a:r>
              <a:rPr sz="2400" b="0">
                <a:solidFill>
                  <a:srgbClr val="183B48"/>
                </a:solidFill>
                <a:latin typeface="Arial"/>
              </a:rPr>
              <a:t>With a private server-side key, qwen-plus turns selected decision facts into a short travel explanation.</a:t>
            </a:r>
          </a:p>
        </p:txBody>
      </p:sp>
      <p:sp>
        <p:nvSpPr>
          <p:cNvPr id="6" name="TextBox 5"/>
          <p:cNvSpPr txBox="1"/>
          <p:nvPr/>
        </p:nvSpPr>
        <p:spPr>
          <a:xfrm>
            <a:off x="6199632" y="1280160"/>
            <a:ext cx="5120640" cy="329184"/>
          </a:xfrm>
          <a:prstGeom prst="rect">
            <a:avLst/>
          </a:prstGeom>
          <a:noFill/>
        </p:spPr>
        <p:txBody>
          <a:bodyPr wrap="square" lIns="9144" rIns="9144" tIns="9144" bIns="9144" anchor="ctr">
            <a:spAutoFit/>
          </a:bodyPr>
          <a:lstStyle/>
          <a:p>
            <a:pPr algn="l">
              <a:spcAft>
                <a:spcPts val="0"/>
              </a:spcAft>
            </a:pPr>
            <a:r>
              <a:rPr sz="1800" b="1">
                <a:solidFill>
                  <a:srgbClr val="007E77"/>
                </a:solidFill>
                <a:latin typeface="Arial"/>
              </a:rPr>
              <a:t>WHAT THE MODEL CANNOT CHANGE</a:t>
            </a:r>
          </a:p>
        </p:txBody>
      </p:sp>
      <p:sp>
        <p:nvSpPr>
          <p:cNvPr id="7" name="TextBox 6"/>
          <p:cNvSpPr txBox="1"/>
          <p:nvPr/>
        </p:nvSpPr>
        <p:spPr>
          <a:xfrm>
            <a:off x="6199632" y="1673352"/>
            <a:ext cx="5102352" cy="987552"/>
          </a:xfrm>
          <a:prstGeom prst="rect">
            <a:avLst/>
          </a:prstGeom>
          <a:noFill/>
        </p:spPr>
        <p:txBody>
          <a:bodyPr wrap="square" lIns="9144" rIns="9144" tIns="9144" bIns="9144" anchor="ctr">
            <a:spAutoFit/>
          </a:bodyPr>
          <a:lstStyle/>
          <a:p>
            <a:pPr algn="l">
              <a:spcAft>
                <a:spcPts val="0"/>
              </a:spcAft>
            </a:pPr>
            <a:r>
              <a:rPr sz="2400" b="0">
                <a:solidFill>
                  <a:srgbClr val="183B48"/>
                </a:solidFill>
                <a:latin typeface="Arial"/>
              </a:rPr>
              <a:t>Routes, departure times, ETAs, risk labels, and go / hold decisions come from the rule-based engine.</a:t>
            </a:r>
          </a:p>
        </p:txBody>
      </p:sp>
      <p:sp>
        <p:nvSpPr>
          <p:cNvPr id="8" name="Rounded Rectangle 7"/>
          <p:cNvSpPr/>
          <p:nvPr/>
        </p:nvSpPr>
        <p:spPr>
          <a:xfrm>
            <a:off x="841248" y="3054096"/>
            <a:ext cx="10561320" cy="1069848"/>
          </a:xfrm>
          <a:prstGeom prst="roundRect">
            <a:avLst/>
          </a:prstGeom>
          <a:solidFill>
            <a:srgbClr val="E8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18688"/>
            <a:ext cx="1874519" cy="283464"/>
          </a:xfrm>
          <a:prstGeom prst="rect">
            <a:avLst/>
          </a:prstGeom>
          <a:noFill/>
        </p:spPr>
        <p:txBody>
          <a:bodyPr wrap="square" lIns="9144" rIns="9144" tIns="9144" bIns="9144" anchor="ctr">
            <a:spAutoFit/>
          </a:bodyPr>
          <a:lstStyle/>
          <a:p>
            <a:pPr algn="l">
              <a:spcAft>
                <a:spcPts val="0"/>
              </a:spcAft>
            </a:pPr>
            <a:r>
              <a:rPr sz="1800" b="1">
                <a:solidFill>
                  <a:srgbClr val="007E77"/>
                </a:solidFill>
                <a:latin typeface="Arial"/>
              </a:rPr>
              <a:t>SAFEGUARDS</a:t>
            </a:r>
          </a:p>
        </p:txBody>
      </p:sp>
      <p:sp>
        <p:nvSpPr>
          <p:cNvPr id="10" name="TextBox 9"/>
          <p:cNvSpPr txBox="1"/>
          <p:nvPr/>
        </p:nvSpPr>
        <p:spPr>
          <a:xfrm>
            <a:off x="2862072" y="3145536"/>
            <a:ext cx="8183879" cy="813816"/>
          </a:xfrm>
          <a:prstGeom prst="rect">
            <a:avLst/>
          </a:prstGeom>
          <a:noFill/>
        </p:spPr>
        <p:txBody>
          <a:bodyPr wrap="square" lIns="9144" rIns="9144" tIns="9144" bIns="9144" anchor="ctr">
            <a:spAutoFit/>
          </a:bodyPr>
          <a:lstStyle/>
          <a:p>
            <a:pPr algn="l">
              <a:spcAft>
                <a:spcPts val="0"/>
              </a:spcAft>
            </a:pPr>
            <a:r>
              <a:rPr sz="1900" b="0">
                <a:solidFill>
                  <a:srgbClr val="183B48"/>
                </a:solidFill>
                <a:latin typeface="Arial"/>
              </a:rPr>
              <a:t>Only whitelisted facts are sent; unsupported numbers are rejected. Timeout, error, or missing key leaves the structured decision intact.</a:t>
            </a:r>
          </a:p>
        </p:txBody>
      </p:sp>
      <p:sp>
        <p:nvSpPr>
          <p:cNvPr id="11" name="TextBox 10"/>
          <p:cNvSpPr txBox="1"/>
          <p:nvPr/>
        </p:nvSpPr>
        <p:spPr>
          <a:xfrm>
            <a:off x="877824" y="4434840"/>
            <a:ext cx="10424160" cy="804672"/>
          </a:xfrm>
          <a:prstGeom prst="rect">
            <a:avLst/>
          </a:prstGeom>
          <a:noFill/>
        </p:spPr>
        <p:txBody>
          <a:bodyPr wrap="square" lIns="9144" rIns="9144" tIns="9144" bIns="9144" anchor="ctr">
            <a:spAutoFit/>
          </a:bodyPr>
          <a:lstStyle/>
          <a:p>
            <a:pPr algn="l">
              <a:spcAft>
                <a:spcPts val="0"/>
              </a:spcAft>
            </a:pPr>
            <a:r>
              <a:rPr sz="2000" b="0">
                <a:solidFill>
                  <a:srgbClr val="183B48"/>
                </a:solidFill>
                <a:latin typeface="Arial"/>
              </a:rPr>
              <a:t>Implemented in the three application APIs. Local keyed use has been observed; a fresh public GitHub checkout contains no credentials.</a:t>
            </a:r>
          </a:p>
        </p:txBody>
      </p:sp>
      <p:sp>
        <p:nvSpPr>
          <p:cNvPr id="12" name="TextBox 11"/>
          <p:cNvSpPr txBox="1"/>
          <p:nvPr/>
        </p:nvSpPr>
        <p:spPr>
          <a:xfrm>
            <a:off x="877824" y="5468112"/>
            <a:ext cx="4709160" cy="310896"/>
          </a:xfrm>
          <a:prstGeom prst="rect">
            <a:avLst/>
          </a:prstGeom>
          <a:noFill/>
        </p:spPr>
        <p:txBody>
          <a:bodyPr wrap="square" lIns="9144" rIns="9144" tIns="9144" bIns="9144" anchor="ctr">
            <a:spAutoFit/>
          </a:bodyPr>
          <a:lstStyle/>
          <a:p>
            <a:pPr algn="l">
              <a:spcAft>
                <a:spcPts val="0"/>
              </a:spcAft>
            </a:pPr>
            <a:r>
              <a:rPr sz="1700" b="1">
                <a:solidFill>
                  <a:srgbClr val="007E77"/>
                </a:solidFill>
                <a:latin typeface="Arial"/>
                <a:hlinkClick r:id="rId3"/>
              </a:rPr>
              <a:t>Model adapter and validation code</a:t>
            </a:r>
          </a:p>
        </p:txBody>
      </p:sp>
      <p:sp>
        <p:nvSpPr>
          <p:cNvPr id="13" name="TextBox 12"/>
          <p:cNvSpPr txBox="1"/>
          <p:nvPr/>
        </p:nvSpPr>
        <p:spPr>
          <a:xfrm>
            <a:off x="5486400" y="5468112"/>
            <a:ext cx="5943600" cy="310896"/>
          </a:xfrm>
          <a:prstGeom prst="rect">
            <a:avLst/>
          </a:prstGeom>
          <a:noFill/>
        </p:spPr>
        <p:txBody>
          <a:bodyPr wrap="square" lIns="9144" rIns="9144" tIns="9144" bIns="9144" anchor="ctr">
            <a:spAutoFit/>
          </a:bodyPr>
          <a:lstStyle/>
          <a:p>
            <a:pPr algn="l">
              <a:spcAft>
                <a:spcPts val="0"/>
              </a:spcAft>
            </a:pPr>
            <a:r>
              <a:rPr sz="1500" b="0">
                <a:solidFill>
                  <a:srgbClr val="007E77"/>
                </a:solidFill>
                <a:latin typeface="Arial"/>
                <a:hlinkClick r:id="rId4"/>
              </a:rPr>
              <a:t>github.com/jijie114514-oss/eight-university-hackathon</a:t>
            </a:r>
          </a:p>
        </p:txBody>
      </p:sp>
      <p:sp>
        <p:nvSpPr>
          <p:cNvPr id="14" name="TextBox 13"/>
          <p:cNvSpPr txBox="1"/>
          <p:nvPr/>
        </p:nvSpPr>
        <p:spPr>
          <a:xfrm>
            <a:off x="612648" y="6382512"/>
            <a:ext cx="10424160" cy="274320"/>
          </a:xfrm>
          <a:prstGeom prst="rect">
            <a:avLst/>
          </a:prstGeom>
          <a:noFill/>
        </p:spPr>
        <p:txBody>
          <a:bodyPr wrap="square" lIns="9144" rIns="9144" tIns="9144" bIns="9144" anchor="ctr">
            <a:spAutoFit/>
          </a:bodyPr>
          <a:lstStyle/>
          <a:p>
            <a:pPr algn="l">
              <a:spcAft>
                <a:spcPts val="0"/>
              </a:spcAft>
            </a:pPr>
            <a:r>
              <a:rPr sz="1200" b="0">
                <a:solidFill>
                  <a:srgbClr val="5A707A"/>
                </a:solidFill>
                <a:latin typeface="Arial"/>
              </a:rPr>
              <a:t>Source: src/lib/ai/explain.ts and ai-explanation.test.ts. Model availability depends on server configuration.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1" name="矩形 10"/>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 tested prototype, with evidence limits</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09</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r>
              <a:rPr sz="1200" b="0">
                <a:solidFill>
                  <a:srgbClr val="5A707A"/>
                </a:solidFill>
                <a:latin typeface="Arial"/>
              </a:rPr>
              <a:t>Source: fresh vitest run, 18 Oct 2026; release-checks/RELEASE_REVIEW.md for earlier review.</a:t>
            </a:r>
          </a:p>
        </p:txBody>
      </p:sp>
      <p:sp>
        <p:nvSpPr>
          <p:cNvPr id="4" name="矩形 3"/>
          <p:cNvSpPr>
            <a:spLocks noGrp="1"/>
          </p:cNvSpPr>
          <p:nvPr/>
        </p:nvSpPr>
        <p:spPr>
          <a:xfrm>
            <a:off x="609600" y="1666875"/>
            <a:ext cx="4095750" cy="952500"/>
          </a:xfrm>
          <a:prstGeom prst="rect">
            <a:avLst/>
          </a:prstGeom>
          <a:noFill/>
          <a:ln w="0">
            <a:noFill/>
          </a:ln>
        </p:spPr>
        <p:txBody>
          <a:bodyPr lIns="0" tIns="0" rIns="0" bIns="0" anchor="t"/>
          <a:lstStyle>
            <a:defPPr>
              <a:defRPr sz="5850" b="1">
                <a:solidFill>
                  <a:srgbClr val="087D76"/>
                </a:solidFill>
                <a:latin typeface="Arial" panose="020B0604020202020204"/>
                <a:ea typeface="Arial" panose="020B0604020202020204"/>
                <a:cs typeface="Arial" panose="020B0604020202020204"/>
              </a:defRPr>
            </a:defPPr>
          </a:lstStyle>
          <a:p>
            <a:r>
              <a:rPr sz="6800" b="1">
                <a:solidFill>
                  <a:srgbClr val="007E77"/>
                </a:solidFill>
                <a:latin typeface="Arial"/>
              </a:rPr>
              <a:t>595</a:t>
            </a:r>
          </a:p>
        </p:txBody>
      </p:sp>
      <p:sp>
        <p:nvSpPr>
          <p:cNvPr id="5" name="矩形 4"/>
          <p:cNvSpPr>
            <a:spLocks noGrp="1"/>
          </p:cNvSpPr>
          <p:nvPr/>
        </p:nvSpPr>
        <p:spPr>
          <a:xfrm>
            <a:off x="609600" y="2609850"/>
            <a:ext cx="5857875" cy="762000"/>
          </a:xfrm>
          <a:prstGeom prst="rect">
            <a:avLst/>
          </a:prstGeom>
          <a:noFill/>
          <a:ln w="0">
            <a:noFill/>
          </a:ln>
        </p:spPr>
        <p:txBody>
          <a:bodyPr lIns="0" tIns="0" rIns="0" bIns="0" anchor="t"/>
          <a:lstStyle>
            <a:defPPr>
              <a:defRPr sz="2100" b="0">
                <a:solidFill>
                  <a:srgbClr val="153D4B"/>
                </a:solidFill>
                <a:latin typeface="Arial" panose="020B0604020202020204"/>
                <a:ea typeface="Arial" panose="020B0604020202020204"/>
                <a:cs typeface="Arial" panose="020B0604020202020204"/>
              </a:defRPr>
            </a:defPPr>
          </a:lstStyle>
          <a:p>
            <a:r>
              <a:rPr sz="2400" b="0">
                <a:solidFill>
                  <a:srgbClr val="183B48"/>
                </a:solidFill>
                <a:latin typeface="Arial"/>
              </a:rPr>
              <a:t>tests passed · integrated app</a:t>
            </a:r>
          </a:p>
          <a:p>
            <a:r>
              <a:rPr sz="2400" b="0">
                <a:solidFill>
                  <a:srgbClr val="183B48"/>
                </a:solidFill>
                <a:latin typeface="Arial"/>
              </a:rPr>
              <a:t>43 test files</a:t>
            </a:r>
          </a:p>
        </p:txBody>
      </p:sp>
      <p:sp>
        <p:nvSpPr>
          <p:cNvPr id="6" name="矩形 5"/>
          <p:cNvSpPr>
            <a:spLocks noGrp="1"/>
          </p:cNvSpPr>
          <p:nvPr/>
        </p:nvSpPr>
        <p:spPr>
          <a:xfrm>
            <a:off x="609600" y="3676650"/>
            <a:ext cx="4095750" cy="952500"/>
          </a:xfrm>
          <a:prstGeom prst="rect">
            <a:avLst/>
          </a:prstGeom>
          <a:noFill/>
          <a:ln w="0">
            <a:noFill/>
          </a:ln>
        </p:spPr>
        <p:txBody>
          <a:bodyPr lIns="0" tIns="0" rIns="0" bIns="0" anchor="t"/>
          <a:lstStyle>
            <a:defPPr>
              <a:defRPr sz="5175" b="1">
                <a:solidFill>
                  <a:srgbClr val="087D76"/>
                </a:solidFill>
                <a:latin typeface="Arial" panose="020B0604020202020204"/>
                <a:ea typeface="Arial" panose="020B0604020202020204"/>
                <a:cs typeface="Arial" panose="020B0604020202020204"/>
              </a:defRPr>
            </a:defPPr>
          </a:lstStyle>
          <a:p>
            <a:r>
              <a:rPr sz="6200" b="1">
                <a:solidFill>
                  <a:srgbClr val="007E77"/>
                </a:solidFill>
                <a:latin typeface="Arial"/>
              </a:rPr>
              <a:t>1,129</a:t>
            </a:r>
          </a:p>
        </p:txBody>
      </p:sp>
      <p:sp>
        <p:nvSpPr>
          <p:cNvPr id="7" name="矩形 6"/>
          <p:cNvSpPr>
            <a:spLocks noGrp="1"/>
          </p:cNvSpPr>
          <p:nvPr/>
        </p:nvSpPr>
        <p:spPr>
          <a:xfrm>
            <a:off x="609600" y="4505325"/>
            <a:ext cx="6143625" cy="857250"/>
          </a:xfrm>
          <a:prstGeom prst="rect">
            <a:avLst/>
          </a:prstGeom>
          <a:noFill/>
          <a:ln w="0">
            <a:noFill/>
          </a:ln>
        </p:spPr>
        <p:txBody>
          <a:bodyPr lIns="0" tIns="0" rIns="0" bIns="0" anchor="t"/>
          <a:lstStyle>
            <a:defPPr>
              <a:defRPr sz="1950" b="0">
                <a:solidFill>
                  <a:srgbClr val="153D4B"/>
                </a:solidFill>
                <a:latin typeface="Arial" panose="020B0604020202020204"/>
                <a:ea typeface="Arial" panose="020B0604020202020204"/>
                <a:cs typeface="Arial" panose="020B0604020202020204"/>
              </a:defRPr>
            </a:defPPr>
          </a:lstStyle>
          <a:p>
            <a:r>
              <a:rPr sz="2300" b="0">
                <a:solidFill>
                  <a:srgbClr val="183B48"/>
                </a:solidFill>
                <a:latin typeface="Arial"/>
              </a:rPr>
              <a:t>passes across three saved versions</a:t>
            </a:r>
          </a:p>
          <a:p>
            <a:r>
              <a:rPr sz="2300" b="0">
                <a:solidFill>
                  <a:srgbClr val="183B48"/>
                </a:solidFill>
                <a:latin typeface="Arial"/>
              </a:rPr>
              <a:t>Includes shared regressions</a:t>
            </a:r>
          </a:p>
        </p:txBody>
      </p:sp>
      <p:pic>
        <p:nvPicPr>
          <p:cNvPr id="8" name="图片 7"/>
          <p:cNvPicPr>
            <a:picLocks noChangeAspect="1"/>
          </p:cNvPicPr>
          <p:nvPr/>
        </p:nvPicPr>
        <p:blipFill>
          <a:blip r:embed="rId1"/>
          <a:stretch>
            <a:fillRect/>
          </a:stretch>
        </p:blipFill>
        <p:spPr>
          <a:xfrm>
            <a:off x="8699575" y="1352550"/>
            <a:ext cx="1936600" cy="4191000"/>
          </a:xfrm>
          <a:prstGeom prst="rect">
            <a:avLst/>
          </a:prstGeom>
        </p:spPr>
      </p:pic>
      <p:sp>
        <p:nvSpPr>
          <p:cNvPr id="9" name="矩形 8"/>
          <p:cNvSpPr>
            <a:spLocks noGrp="1"/>
          </p:cNvSpPr>
          <p:nvPr/>
        </p:nvSpPr>
        <p:spPr>
          <a:xfrm>
            <a:off x="8286750" y="5695950"/>
            <a:ext cx="2952750" cy="381000"/>
          </a:xfrm>
          <a:prstGeom prst="rect">
            <a:avLst/>
          </a:prstGeom>
          <a:noFill/>
          <a:ln w="0">
            <a:noFill/>
          </a:ln>
        </p:spPr>
        <p:txBody>
          <a:bodyPr lIns="0" tIns="0" rIns="0" bIns="0" anchor="t"/>
          <a:lstStyle>
            <a:defPPr>
              <a:defRPr sz="1575" b="1">
                <a:solidFill>
                  <a:srgbClr val="087D76"/>
                </a:solidFill>
                <a:latin typeface="Arial" panose="020B0604020202020204"/>
                <a:ea typeface="Arial" panose="020B0604020202020204"/>
                <a:cs typeface="Arial" panose="020B0604020202020204"/>
              </a:defRPr>
            </a:defPPr>
          </a:lstStyle>
          <a:p>
            <a:pPr>
              <a:defRPr sz="1575" b="1">
                <a:solidFill>
                  <a:srgbClr val="087D76"/>
                </a:solidFill>
                <a:latin typeface="Arial" panose="020B0604020202020204"/>
                <a:ea typeface="Arial" panose="020B0604020202020204"/>
                <a:cs typeface="Arial" panose="020B0604020202020204"/>
              </a:defRPr>
            </a:pPr>
            <a:r>
              <a:rPr sz="1575" b="1">
                <a:solidFill>
                  <a:srgbClr val="087D76"/>
                </a:solidFill>
                <a:latin typeface="Arial" panose="020B0604020202020204"/>
                <a:ea typeface="Arial" panose="020B0604020202020204"/>
                <a:cs typeface="Arial" panose="020B0604020202020204"/>
              </a:rPr>
              <a:t>Browser QA · 390px</a:t>
            </a:r>
            <a:endParaRPr sz="1575" b="1">
              <a:solidFill>
                <a:srgbClr val="087D76"/>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609600" y="5638800"/>
            <a:ext cx="7239000" cy="609600"/>
          </a:xfrm>
          <a:prstGeom prst="rect">
            <a:avLst/>
          </a:prstGeom>
          <a:noFill/>
          <a:ln w="0">
            <a:noFill/>
          </a:ln>
        </p:spPr>
        <p:txBody>
          <a:bodyPr lIns="0" tIns="0" rIns="0" bIns="0" anchor="t"/>
          <a:lstStyle>
            <a:defPPr>
              <a:defRPr sz="1650" b="0">
                <a:solidFill>
                  <a:srgbClr val="153D4B"/>
                </a:solidFill>
                <a:latin typeface="Arial" panose="020B0604020202020204"/>
                <a:ea typeface="Arial" panose="020B0604020202020204"/>
                <a:cs typeface="Arial" panose="020B0604020202020204"/>
              </a:defRPr>
            </a:defPPr>
          </a:lstStyle>
          <a:p>
            <a:pPr>
              <a:defRPr sz="1650" b="0">
                <a:solidFill>
                  <a:srgbClr val="153D4B"/>
                </a:solidFill>
                <a:latin typeface="Arial" panose="020B0604020202020204"/>
                <a:ea typeface="Arial" panose="020B0604020202020204"/>
                <a:cs typeface="Arial" panose="020B0604020202020204"/>
              </a:defRPr>
            </a:pPr>
            <a:r>
              <a:rPr sz="1650" b="0">
                <a:solidFill>
                  <a:srgbClr val="153D4B"/>
                </a:solidFill>
                <a:latin typeface="Arial" panose="020B0604020202020204"/>
                <a:ea typeface="Arial" panose="020B0604020202020204"/>
                <a:cs typeface="Arial" panose="020B0604020202020204"/>
              </a:rPr>
              <a:t>Lint, type checks and production builds passed. No completed human usability study is claimed.</a:t>
            </a:r>
            <a:endParaRPr sz="1650" b="0">
              <a:solidFill>
                <a:srgbClr val="153D4B"/>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2" name="矩形 11"/>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Impact will be measured in a small pilot</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10</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SDG alignment: UN targets 11.2 and 13.1. Pilot targets are proposed, not achieved outcomes.</a:t>
            </a:r>
            <a:endParaRPr sz="1125" b="0">
              <a:solidFill>
                <a:srgbClr val="4F636B"/>
              </a:solidFill>
              <a:latin typeface="Arial" panose="020B0604020202020204"/>
              <a:ea typeface="Arial" panose="020B0604020202020204"/>
              <a:cs typeface="Arial" panose="020B0604020202020204"/>
            </a:endParaRPr>
          </a:p>
        </p:txBody>
      </p:sp>
      <p:sp>
        <p:nvSpPr>
          <p:cNvPr id="4" name="矩形 3"/>
          <p:cNvSpPr>
            <a:spLocks noGrp="1"/>
          </p:cNvSpPr>
          <p:nvPr/>
        </p:nvSpPr>
        <p:spPr>
          <a:xfrm>
            <a:off x="60960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SDG 11.2</a:t>
            </a:r>
            <a:endParaRPr sz="2250" b="1">
              <a:solidFill>
                <a:srgbClr val="087D76"/>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0960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Support informed use of public transport within a traveller’s time and cost constraints.</a:t>
            </a:r>
            <a:endParaRPr sz="1875" b="0">
              <a:solidFill>
                <a:srgbClr val="153D4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38175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SDG 13.1</a:t>
            </a:r>
            <a:endParaRPr sz="2250" b="1">
              <a:solidFill>
                <a:srgbClr val="087D76"/>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38175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Help users recognise disruption and defer travel when the scenario cannot support a recommendation.</a:t>
            </a:r>
            <a:endParaRPr sz="1875"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0960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Proposed pilot</a:t>
            </a:r>
            <a:endParaRPr sz="2250" b="1">
              <a:solidFill>
                <a:srgbClr val="087D76"/>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0960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10–15 consenting commuters over 5–10 travel days. Compare with their existing planning tools.</a:t>
            </a:r>
            <a:endParaRPr sz="1875" b="0">
              <a:solidFill>
                <a:srgbClr val="153D4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638175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Measures and guardrails</a:t>
            </a:r>
            <a:endParaRPr sz="2250" b="1">
              <a:solidFill>
                <a:srgbClr val="087D76"/>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638175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Planning time, lateness, extra cost and understanding of uncertainty. No measured carbon or congestion impact yet.</a:t>
            </a:r>
            <a:endParaRPr sz="1875" b="0">
              <a:solidFill>
                <a:srgbClr val="153D4B"/>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2" name="矩形 11"/>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 focused path to adoption</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11</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Business model and costs are hypotheses for validation. No customers or institutional partners are confirmed.</a:t>
            </a:r>
            <a:endParaRPr sz="1125" b="0">
              <a:solidFill>
                <a:srgbClr val="4F636B"/>
              </a:solidFill>
              <a:latin typeface="Arial" panose="020B0604020202020204"/>
              <a:ea typeface="Arial" panose="020B0604020202020204"/>
              <a:cs typeface="Arial" panose="020B0604020202020204"/>
            </a:endParaRPr>
          </a:p>
        </p:txBody>
      </p:sp>
      <p:sp>
        <p:nvSpPr>
          <p:cNvPr id="4" name="矩形 3"/>
          <p:cNvSpPr>
            <a:spLocks noGrp="1"/>
          </p:cNvSpPr>
          <p:nvPr/>
        </p:nvSpPr>
        <p:spPr>
          <a:xfrm>
            <a:off x="60960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Initial access</a:t>
            </a:r>
            <a:endParaRPr sz="2250" b="1">
              <a:solidFill>
                <a:srgbClr val="087D76"/>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0960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A mobile web app for one university or employer commute community. A partner is not yet confirmed.</a:t>
            </a:r>
            <a:endParaRPr sz="1875" b="0">
              <a:solidFill>
                <a:srgbClr val="153D4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38175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Funding hypothesis</a:t>
            </a:r>
            <a:endParaRPr sz="2250" b="1">
              <a:solidFill>
                <a:srgbClr val="087D76"/>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38175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Free core traveller access, with an institutional pilot or support contract if value is demonstrated.</a:t>
            </a:r>
            <a:endParaRPr sz="1875"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0960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Operating costs</a:t>
            </a:r>
            <a:endParaRPr sz="2250" b="1">
              <a:solidFill>
                <a:srgbClr val="087D76"/>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0960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Node hosting, address and route providers, feed updates, monitoring and a managed foot router.</a:t>
            </a:r>
            <a:endParaRPr sz="1875" b="0">
              <a:solidFill>
                <a:srgbClr val="153D4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638175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Expansion gate</a:t>
            </a:r>
            <a:endParaRPr sz="2250" b="1">
              <a:solidFill>
                <a:srgbClr val="087D76"/>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638175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Expand corridors only after coverage, usability and provider costs meet agreed pilot thresholds.</a:t>
            </a:r>
            <a:endParaRPr sz="1875" b="0">
              <a:solidFill>
                <a:srgbClr val="153D4B"/>
              </a:solidFill>
              <a:latin typeface="Arial" panose="020B0604020202020204"/>
              <a:ea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2" name="矩形 11"/>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Uncertainty remains visible to the user</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12</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Source: implementation and release review. Controls reduce risk but do not certify route safety.</a:t>
            </a:r>
            <a:endParaRPr sz="1125" b="0">
              <a:solidFill>
                <a:srgbClr val="4F636B"/>
              </a:solidFill>
              <a:latin typeface="Arial" panose="020B0604020202020204"/>
              <a:ea typeface="Arial" panose="020B0604020202020204"/>
              <a:cs typeface="Arial" panose="020B0604020202020204"/>
            </a:endParaRPr>
          </a:p>
        </p:txBody>
      </p:sp>
      <p:sp>
        <p:nvSpPr>
          <p:cNvPr id="4" name="矩形 3"/>
          <p:cNvSpPr>
            <a:spLocks noGrp="1"/>
          </p:cNvSpPr>
          <p:nvPr/>
        </p:nvSpPr>
        <p:spPr>
          <a:xfrm>
            <a:off x="60960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Travel advice</a:t>
            </a:r>
            <a:endParaRPr sz="2250" b="1">
              <a:solidFill>
                <a:srgbClr val="087D76"/>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0960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Show sources and uncertainty. No calibrated on-time probability, live queue guarantee or emergency navigation claim.</a:t>
            </a:r>
            <a:endParaRPr sz="1875" b="0">
              <a:solidFill>
                <a:srgbClr val="153D4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38175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Privacy</a:t>
            </a:r>
            <a:endParaRPr sz="2250" b="1">
              <a:solidFill>
                <a:srgbClr val="087D76"/>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38175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Server-side API keys. Search and routing can send locations to external providers. A pilot needs consent and retention controls.</a:t>
            </a:r>
            <a:endParaRPr sz="1875"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0960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Inclusion</a:t>
            </a:r>
            <a:endParaRPr sz="2250" b="1">
              <a:solidFill>
                <a:srgbClr val="087D76"/>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0960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Mobile layout checks passed. Screen-reader, step-free routing and real-device testing still need validation.</a:t>
            </a:r>
            <a:endParaRPr sz="1875" b="0">
              <a:solidFill>
                <a:srgbClr val="153D4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638175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Maintenance</a:t>
            </a:r>
            <a:endParaRPr sz="2250" b="1">
              <a:solidFill>
                <a:srgbClr val="087D76"/>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638175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Production dependency audit: zero known findings at review. Seven high development-tool findings remain disclosed.</a:t>
            </a:r>
            <a:endParaRPr sz="1875" b="0">
              <a:solidFill>
                <a:srgbClr val="153D4B"/>
              </a:solidFill>
              <a:latin typeface="Arial" panose="020B0604020202020204"/>
              <a:ea typeface="Arial" panose="020B0604020202020204"/>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6" name="矩形 5"/>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The next milestone is a measured pilot</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13</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Proposed plan after the competition. Milestones depend on user recruitment and provider access.</a:t>
            </a:r>
            <a:endParaRPr sz="1125" b="0">
              <a:solidFill>
                <a:srgbClr val="4F636B"/>
              </a:solidFill>
              <a:latin typeface="Arial" panose="020B0604020202020204"/>
              <a:ea typeface="Arial" panose="020B0604020202020204"/>
              <a:cs typeface="Arial" panose="020B0604020202020204"/>
            </a:endParaRPr>
          </a:p>
        </p:txBody>
      </p:sp>
      <p:graphicFrame>
        <p:nvGraphicFramePr>
          <p:cNvPr id="4" name="表格 3"/>
          <p:cNvGraphicFramePr/>
          <p:nvPr/>
        </p:nvGraphicFramePr>
        <p:xfrm>
          <a:off x="609600" y="1714500"/>
          <a:ext cx="10972800" cy="2952752"/>
        </p:xfrm>
        <a:graphic>
          <a:graphicData uri="http://schemas.openxmlformats.org/drawingml/2006/table">
            <a:tbl>
              <a:tblPr/>
              <a:tblGrid>
                <a:gridCol w="2000250"/>
                <a:gridCol w="4333875"/>
                <a:gridCol w="4638675"/>
              </a:tblGrid>
              <a:tr h="738188">
                <a:tc>
                  <a:txBody>
                    <a:bodyPr/>
                    <a:lstStyle/>
                    <a:p>
                      <a:r>
                        <a:rPr sz="1725" b="1">
                          <a:solidFill>
                            <a:srgbClr val="FFFFFF"/>
                          </a:solidFill>
                          <a:latin typeface="Arial" panose="020B0604020202020204"/>
                          <a:ea typeface="Arial" panose="020B0604020202020204"/>
                          <a:cs typeface="Arial" panose="020B0604020202020204"/>
                        </a:rPr>
                        <a:t>Period</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c>
                  <a:txBody>
                    <a:bodyPr/>
                    <a:lstStyle/>
                    <a:p>
                      <a:r>
                        <a:rPr sz="1725" b="1">
                          <a:solidFill>
                            <a:srgbClr val="FFFFFF"/>
                          </a:solidFill>
                          <a:latin typeface="Arial" panose="020B0604020202020204"/>
                          <a:ea typeface="Arial" panose="020B0604020202020204"/>
                          <a:cs typeface="Arial" panose="020B0604020202020204"/>
                        </a:rPr>
                        <a:t>Planned milestone</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c>
                  <a:txBody>
                    <a:bodyPr/>
                    <a:lstStyle/>
                    <a:p>
                      <a:r>
                        <a:rPr sz="1725" b="1">
                          <a:solidFill>
                            <a:srgbClr val="FFFFFF"/>
                          </a:solidFill>
                          <a:latin typeface="Arial" panose="020B0604020202020204"/>
                          <a:ea typeface="Arial" panose="020B0604020202020204"/>
                          <a:cs typeface="Arial" panose="020B0604020202020204"/>
                        </a:rPr>
                        <a:t>Evidence required</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r>
              <a:tr h="738188">
                <a:tc>
                  <a:txBody>
                    <a:bodyPr/>
                    <a:lstStyle/>
                    <a:p>
                      <a:r>
                        <a:rPr sz="1650" b="0">
                          <a:solidFill>
                            <a:srgbClr val="153D4B"/>
                          </a:solidFill>
                          <a:latin typeface="Arial" panose="020B0604020202020204"/>
                          <a:ea typeface="Arial" panose="020B0604020202020204"/>
                          <a:cs typeface="Arial" panose="020B0604020202020204"/>
                        </a:rPr>
                        <a:t>Weeks 1–2</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Deploy and verify a bounded corridor</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Provider probes, accessibility review and consent flow</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r>
              <a:tr h="738188">
                <a:tc>
                  <a:txBody>
                    <a:bodyPr/>
                    <a:lstStyle/>
                    <a:p>
                      <a:r>
                        <a:rPr sz="1650" b="0">
                          <a:solidFill>
                            <a:srgbClr val="153D4B"/>
                          </a:solidFill>
                          <a:latin typeface="Arial" panose="020B0604020202020204"/>
                          <a:ea typeface="Arial" panose="020B0604020202020204"/>
                          <a:cs typeface="Arial" panose="020B0604020202020204"/>
                        </a:rPr>
                        <a:t>Weeks 3–4</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E8F2F0"/>
                    </a:solidFill>
                  </a:tcPr>
                </a:tc>
                <a:tc>
                  <a:txBody>
                    <a:bodyPr/>
                    <a:lstStyle/>
                    <a:p>
                      <a:r>
                        <a:rPr sz="1650" b="0">
                          <a:solidFill>
                            <a:srgbClr val="153D4B"/>
                          </a:solidFill>
                          <a:latin typeface="Arial" panose="020B0604020202020204"/>
                          <a:ea typeface="Arial" panose="020B0604020202020204"/>
                          <a:cs typeface="Arial" panose="020B0604020202020204"/>
                        </a:rPr>
                        <a:t>Run user tasks and explanation comparisons</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E8F2F0"/>
                    </a:solidFill>
                  </a:tcPr>
                </a:tc>
                <a:tc>
                  <a:txBody>
                    <a:bodyPr/>
                    <a:lstStyle/>
                    <a:p>
                      <a:r>
                        <a:rPr sz="1650" b="0">
                          <a:solidFill>
                            <a:srgbClr val="153D4B"/>
                          </a:solidFill>
                          <a:latin typeface="Arial" panose="020B0604020202020204"/>
                          <a:ea typeface="Arial" panose="020B0604020202020204"/>
                          <a:cs typeface="Arial" panose="020B0604020202020204"/>
                        </a:rPr>
                        <a:t>Task completion and factual-error analysis</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E8F2F0"/>
                    </a:solidFill>
                  </a:tcPr>
                </a:tc>
              </a:tr>
              <a:tr h="738188">
                <a:tc>
                  <a:txBody>
                    <a:bodyPr/>
                    <a:lstStyle/>
                    <a:p>
                      <a:r>
                        <a:rPr sz="1650" b="0">
                          <a:solidFill>
                            <a:srgbClr val="153D4B"/>
                          </a:solidFill>
                          <a:latin typeface="Arial" panose="020B0604020202020204"/>
                          <a:ea typeface="Arial" panose="020B0604020202020204"/>
                          <a:cs typeface="Arial" panose="020B0604020202020204"/>
                        </a:rPr>
                        <a:t>Weeks 5–6</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Run the commute pilot</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Planning time, lateness and extra-cost comparison</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r>
            </a:tbl>
          </a:graphicData>
        </a:graphic>
      </p:graphicFrame>
      <p:sp>
        <p:nvSpPr>
          <p:cNvPr id="5" name="矩形 4"/>
          <p:cNvSpPr>
            <a:spLocks noGrp="1"/>
          </p:cNvSpPr>
          <p:nvPr/>
        </p:nvSpPr>
        <p:spPr>
          <a:xfrm>
            <a:off x="609600" y="5143500"/>
            <a:ext cx="10953750" cy="809625"/>
          </a:xfrm>
          <a:prstGeom prst="rect">
            <a:avLst/>
          </a:prstGeom>
          <a:noFill/>
          <a:ln w="0">
            <a:noFill/>
          </a:ln>
        </p:spPr>
        <p:txBody>
          <a:bodyPr lIns="0" tIns="0" rIns="0" bIns="0" anchor="t"/>
          <a:lstStyle>
            <a:defPPr>
              <a:defRPr sz="2700" b="1">
                <a:solidFill>
                  <a:srgbClr val="087D76"/>
                </a:solidFill>
                <a:latin typeface="Arial" panose="020B0604020202020204"/>
                <a:ea typeface="Arial" panose="020B0604020202020204"/>
                <a:cs typeface="Arial" panose="020B0604020202020204"/>
              </a:defRPr>
            </a:defPPr>
          </a:lstStyle>
          <a:p>
            <a:pPr>
              <a:defRPr sz="2700" b="1">
                <a:solidFill>
                  <a:srgbClr val="087D76"/>
                </a:solidFill>
                <a:latin typeface="Arial" panose="020B0604020202020204"/>
                <a:ea typeface="Arial" panose="020B0604020202020204"/>
                <a:cs typeface="Arial" panose="020B0604020202020204"/>
              </a:defRPr>
            </a:pPr>
            <a:r>
              <a:rPr sz="2700" b="1">
                <a:solidFill>
                  <a:srgbClr val="087D76"/>
                </a:solidFill>
                <a:latin typeface="Arial" panose="020B0604020202020204"/>
                <a:ea typeface="Arial" panose="020B0604020202020204"/>
                <a:cs typeface="Arial" panose="020B0604020202020204"/>
              </a:rPr>
              <a:t>We seek a pilot host, consenting commuters and transport-data review.</a:t>
            </a:r>
            <a:endParaRPr sz="2700" b="1">
              <a:solidFill>
                <a:srgbClr val="087D76"/>
              </a:solidFill>
              <a:latin typeface="Arial" panose="020B0604020202020204"/>
              <a:ea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8" name="矩形 7"/>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Appendix  A reproducible prototype</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14</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r>
              <a:rPr sz="1200" b="0">
                <a:solidFill>
                  <a:srgbClr val="5A707A"/>
                </a:solidFill>
                <a:latin typeface="Arial"/>
              </a:rPr>
              <a:t>The public repository, live demo and embedded screenshots provide prototype proof.</a:t>
            </a:r>
          </a:p>
        </p:txBody>
      </p:sp>
      <p:sp>
        <p:nvSpPr>
          <p:cNvPr id="4" name="矩形 3"/>
          <p:cNvSpPr>
            <a:spLocks noGrp="1"/>
          </p:cNvSpPr>
          <p:nvPr/>
        </p:nvSpPr>
        <p:spPr>
          <a:xfrm>
            <a:off x="609600" y="1666875"/>
            <a:ext cx="10858500" cy="333375"/>
          </a:xfrm>
          <a:prstGeom prst="rect">
            <a:avLst/>
          </a:prstGeom>
          <a:noFill/>
          <a:ln w="0">
            <a:noFill/>
          </a:ln>
        </p:spPr>
        <p:txBody>
          <a:bodyPr lIns="0" tIns="0" rIns="0" bIns="0" anchor="t"/>
          <a:lstStyle>
            <a:defPPr>
              <a:defRPr sz="2100" b="0">
                <a:solidFill>
                  <a:srgbClr val="087D76"/>
                </a:solidFill>
                <a:latin typeface="Arial" panose="020B0604020202020204"/>
                <a:ea typeface="Arial" panose="020B0604020202020204"/>
                <a:cs typeface="Arial" panose="020B0604020202020204"/>
              </a:defRPr>
            </a:defPPr>
          </a:lstStyle>
          <a:p>
            <a:r>
              <a:rPr sz="2200">
                <a:solidFill>
                  <a:srgbClr val="007E77"/>
                </a:solidFill>
                <a:latin typeface="Arial"/>
                <a:hlinkClick r:id="rId1"/>
              </a:rPr>
              <a:t>https://github.com/jijie114514-oss/eight-university-hackathon</a:t>
            </a:r>
          </a:p>
        </p:txBody>
      </p:sp>
      <p:sp>
        <p:nvSpPr>
          <p:cNvPr id="5" name="矩形 4"/>
          <p:cNvSpPr>
            <a:spLocks noGrp="1"/>
          </p:cNvSpPr>
          <p:nvPr/>
        </p:nvSpPr>
        <p:spPr>
          <a:xfrm>
            <a:off x="609600" y="2333625"/>
            <a:ext cx="10763250" cy="1381125"/>
          </a:xfrm>
          <a:prstGeom prst="rect">
            <a:avLst/>
          </a:prstGeom>
          <a:noFill/>
          <a:ln w="0">
            <a:noFill/>
          </a:ln>
        </p:spPr>
        <p:txBody>
          <a:bodyPr lIns="0" tIns="0" rIns="0" bIns="0" anchor="t"/>
          <a:lstStyle>
            <a:defPPr>
              <a:defRPr sz="2250" b="0">
                <a:solidFill>
                  <a:srgbClr val="153D4B"/>
                </a:solidFill>
                <a:latin typeface="Arial" panose="020B0604020202020204"/>
                <a:ea typeface="Arial" panose="020B0604020202020204"/>
                <a:cs typeface="Arial" panose="020B0604020202020204"/>
              </a:defRPr>
            </a:defPPr>
          </a:lstStyle>
          <a:p>
            <a:r>
              <a:rPr sz="2300" b="0">
                <a:solidFill>
                  <a:srgbClr val="183B48"/>
                </a:solidFill>
                <a:latin typeface="Arial"/>
              </a:rPr>
              <a:t>Live demo: https://eight-university-hackathon.vercel.app</a:t>
            </a:r>
          </a:p>
          <a:p>
            <a:r>
              <a:rPr sz="2300" b="0">
                <a:solidFill>
                  <a:srgbClr val="183B48"/>
                </a:solidFill>
                <a:latin typeface="Arial"/>
              </a:rPr>
              <a:t>Local: Node.js 24 · node deploy-local.mjs integrated</a:t>
            </a:r>
          </a:p>
          <a:p>
            <a:r>
              <a:rPr sz="2300" b="0">
                <a:solidFill>
                  <a:srgbClr val="183B48"/>
                </a:solidFill>
                <a:latin typeface="Arial"/>
              </a:rPr>
              <a:t>Second stage: /  ·  First stage: /phase1</a:t>
            </a:r>
          </a:p>
        </p:txBody>
      </p:sp>
      <p:sp>
        <p:nvSpPr>
          <p:cNvPr id="6" name="矩形 5"/>
          <p:cNvSpPr>
            <a:spLocks noGrp="1"/>
          </p:cNvSpPr>
          <p:nvPr/>
        </p:nvSpPr>
        <p:spPr>
          <a:xfrm>
            <a:off x="609600" y="4057650"/>
            <a:ext cx="10810875" cy="1314450"/>
          </a:xfrm>
          <a:prstGeom prst="rect">
            <a:avLst/>
          </a:prstGeom>
          <a:noFill/>
          <a:ln w="0">
            <a:noFill/>
          </a:ln>
        </p:spPr>
        <p:txBody>
          <a:bodyPr lIns="0" tIns="0" rIns="0" bIns="0" anchor="t"/>
          <a:lstStyle>
            <a:defPPr>
              <a:defRPr sz="2025" b="0">
                <a:solidFill>
                  <a:srgbClr val="153D4B"/>
                </a:solidFill>
                <a:latin typeface="Arial" panose="020B0604020202020204"/>
                <a:ea typeface="Arial" panose="020B0604020202020204"/>
                <a:cs typeface="Arial" panose="020B0604020202020204"/>
              </a:defRPr>
            </a:defPPr>
          </a:lstStyle>
          <a:p>
            <a:r>
              <a:rPr sz="2200" b="0">
                <a:solidFill>
                  <a:srgbClr val="183B48"/>
                </a:solidFill>
                <a:latin typeface="Arial"/>
              </a:rPr>
              <a:t>Select “Central to Futian” for the fixed demo.</a:t>
            </a:r>
          </a:p>
          <a:p>
            <a:r>
              <a:rPr sz="2200" b="0">
                <a:solidFill>
                  <a:srgbClr val="183B48"/>
                </a:solidFill>
                <a:latin typeface="Arial"/>
              </a:rPr>
              <a:t>Switch normal service, East Rail disruption and black rainstorm.</a:t>
            </a:r>
          </a:p>
          <a:p>
            <a:r>
              <a:rPr sz="2200" b="0">
                <a:solidFill>
                  <a:srgbClr val="183B48"/>
                </a:solidFill>
                <a:latin typeface="Arial"/>
              </a:rPr>
              <a:t>Open /phase1 for the first-stage commute.</a:t>
            </a:r>
          </a:p>
        </p:txBody>
      </p:sp>
      <p:sp>
        <p:nvSpPr>
          <p:cNvPr id="7" name="矩形 6"/>
          <p:cNvSpPr>
            <a:spLocks noGrp="1"/>
          </p:cNvSpPr>
          <p:nvPr/>
        </p:nvSpPr>
        <p:spPr>
          <a:xfrm>
            <a:off x="609600" y="5715000"/>
            <a:ext cx="1085850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2"/>
              </a:rPr>
              <a:t>Release checks and known limitations</a:t>
            </a:r>
            <a:endParaRPr>
              <a:hlinkClick r:id="rId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6" name="矩形 5"/>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Appendix  Recorded provider coverage</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15</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Archived probes dated 17 October 2026. Reviewed from supplied artifacts, not re-run with a live key in this release.</a:t>
            </a:r>
            <a:endParaRPr sz="1125" b="0">
              <a:solidFill>
                <a:srgbClr val="4F636B"/>
              </a:solidFill>
              <a:latin typeface="Arial" panose="020B0604020202020204"/>
              <a:ea typeface="Arial" panose="020B0604020202020204"/>
              <a:cs typeface="Arial" panose="020B0604020202020204"/>
            </a:endParaRPr>
          </a:p>
        </p:txBody>
      </p:sp>
      <p:graphicFrame>
        <p:nvGraphicFramePr>
          <p:cNvPr id="4" name="表格 3"/>
          <p:cNvGraphicFramePr/>
          <p:nvPr/>
        </p:nvGraphicFramePr>
        <p:xfrm>
          <a:off x="609600" y="1685925"/>
          <a:ext cx="10972800" cy="3095625"/>
        </p:xfrm>
        <a:graphic>
          <a:graphicData uri="http://schemas.openxmlformats.org/drawingml/2006/table">
            <a:tbl>
              <a:tblPr/>
              <a:tblGrid>
                <a:gridCol w="3619500"/>
                <a:gridCol w="1905000"/>
                <a:gridCol w="5448300"/>
              </a:tblGrid>
              <a:tr h="773906">
                <a:tc>
                  <a:txBody>
                    <a:bodyPr/>
                    <a:lstStyle/>
                    <a:p>
                      <a:r>
                        <a:rPr sz="1725" b="1">
                          <a:solidFill>
                            <a:srgbClr val="FFFFFF"/>
                          </a:solidFill>
                          <a:latin typeface="Arial" panose="020B0604020202020204"/>
                          <a:ea typeface="Arial" panose="020B0604020202020204"/>
                          <a:cs typeface="Arial" panose="020B0604020202020204"/>
                        </a:rPr>
                        <a:t>Recorded probe</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c>
                  <a:txBody>
                    <a:bodyPr/>
                    <a:lstStyle/>
                    <a:p>
                      <a:r>
                        <a:rPr sz="1725" b="1">
                          <a:solidFill>
                            <a:srgbClr val="FFFFFF"/>
                          </a:solidFill>
                          <a:latin typeface="Arial" panose="020B0604020202020204"/>
                          <a:ea typeface="Arial" panose="020B0604020202020204"/>
                          <a:cs typeface="Arial" panose="020B0604020202020204"/>
                        </a:rPr>
                        <a:t>Result</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c>
                  <a:txBody>
                    <a:bodyPr/>
                    <a:lstStyle/>
                    <a:p>
                      <a:r>
                        <a:rPr sz="1725" b="1">
                          <a:solidFill>
                            <a:srgbClr val="FFFFFF"/>
                          </a:solidFill>
                          <a:latin typeface="Arial" panose="020B0604020202020204"/>
                          <a:ea typeface="Arial" panose="020B0604020202020204"/>
                          <a:cs typeface="Arial" panose="020B0604020202020204"/>
                        </a:rPr>
                        <a:t>Interpretation</a:t>
                      </a:r>
                      <a:endParaRPr sz="1725" b="1">
                        <a:solidFill>
                          <a:srgbClr val="FFFFFF"/>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T w="9525">
                      <a:solidFill>
                        <a:srgbClr val="C9D8D9"/>
                      </a:solidFill>
                      <a:prstDash val="solid"/>
                    </a:lnT>
                    <a:lnB w="9525">
                      <a:solidFill>
                        <a:srgbClr val="C9D8D9"/>
                      </a:solidFill>
                      <a:prstDash val="solid"/>
                    </a:lnB>
                    <a:solidFill>
                      <a:srgbClr val="153D4B"/>
                    </a:solidFill>
                  </a:tcPr>
                </a:tc>
              </a:tr>
              <a:tr h="773906">
                <a:tc>
                  <a:txBody>
                    <a:bodyPr/>
                    <a:lstStyle/>
                    <a:p>
                      <a:r>
                        <a:rPr sz="1650" b="0">
                          <a:solidFill>
                            <a:srgbClr val="153D4B"/>
                          </a:solidFill>
                          <a:latin typeface="Arial" panose="020B0604020202020204"/>
                          <a:ea typeface="Arial" panose="020B0604020202020204"/>
                          <a:cs typeface="Arial" panose="020B0604020202020204"/>
                        </a:rPr>
                        <a:t>HK district-coordinate samples</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12 / 12</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Reference route to Shenzhen Bay HK bus terminal</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r>
              <a:tr h="773906">
                <a:tc>
                  <a:txBody>
                    <a:bodyPr/>
                    <a:lstStyle/>
                    <a:p>
                      <a:r>
                        <a:rPr sz="1650" b="0">
                          <a:solidFill>
                            <a:srgbClr val="153D4B"/>
                          </a:solidFill>
                          <a:latin typeface="Arial" panose="020B0604020202020204"/>
                          <a:ea typeface="Arial" panose="020B0604020202020204"/>
                          <a:cs typeface="Arial" panose="020B0604020202020204"/>
                        </a:rPr>
                        <a:t>Initial complete cross-border samples</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E8F2F0"/>
                    </a:solidFill>
                  </a:tcPr>
                </a:tc>
                <a:tc>
                  <a:txBody>
                    <a:bodyPr/>
                    <a:lstStyle/>
                    <a:p>
                      <a:r>
                        <a:rPr sz="1650" b="0">
                          <a:solidFill>
                            <a:srgbClr val="153D4B"/>
                          </a:solidFill>
                          <a:latin typeface="Arial" panose="020B0604020202020204"/>
                          <a:ea typeface="Arial" panose="020B0604020202020204"/>
                          <a:cs typeface="Arial" panose="020B0604020202020204"/>
                        </a:rPr>
                        <a:t>3 / 3</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E8F2F0"/>
                    </a:solidFill>
                  </a:tcPr>
                </a:tc>
                <a:tc>
                  <a:txBody>
                    <a:bodyPr/>
                    <a:lstStyle/>
                    <a:p>
                      <a:r>
                        <a:rPr sz="1650" b="0">
                          <a:solidFill>
                            <a:srgbClr val="153D4B"/>
                          </a:solidFill>
                          <a:latin typeface="Arial" panose="020B0604020202020204"/>
                          <a:ea typeface="Arial" panose="020B0604020202020204"/>
                          <a:cs typeface="Arial" panose="020B0604020202020204"/>
                        </a:rPr>
                        <a:t>Central, Tsim Sha Tsui and Mong Kok to Futian</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E8F2F0"/>
                    </a:solidFill>
                  </a:tcPr>
                </a:tc>
              </a:tr>
              <a:tr h="773906">
                <a:tc>
                  <a:txBody>
                    <a:bodyPr/>
                    <a:lstStyle/>
                    <a:p>
                      <a:r>
                        <a:rPr sz="1650" b="0">
                          <a:solidFill>
                            <a:srgbClr val="153D4B"/>
                          </a:solidFill>
                          <a:latin typeface="Arial" panose="020B0604020202020204"/>
                          <a:ea typeface="Arial" panose="020B0604020202020204"/>
                          <a:cs typeface="Arial" panose="020B0604020202020204"/>
                        </a:rPr>
                        <a:t>Shenzhen named POI samples</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L w="9525">
                      <a:solidFill>
                        <a:srgbClr val="C9D8D9"/>
                      </a:solidFill>
                      <a:prstDash val="solid"/>
                    </a:lnL>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8 / 8 each direction</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c>
                  <a:txBody>
                    <a:bodyPr/>
                    <a:lstStyle/>
                    <a:p>
                      <a:r>
                        <a:rPr sz="1650" b="0">
                          <a:solidFill>
                            <a:srgbClr val="153D4B"/>
                          </a:solidFill>
                          <a:latin typeface="Arial" panose="020B0604020202020204"/>
                          <a:ea typeface="Arial" panose="020B0604020202020204"/>
                          <a:cs typeface="Arial" panose="020B0604020202020204"/>
                        </a:rPr>
                        <a:t>One POI per district with Central as HK endpoint</a:t>
                      </a:r>
                      <a:endParaRPr sz="1650" b="0">
                        <a:solidFill>
                          <a:srgbClr val="153D4B"/>
                        </a:solidFill>
                        <a:latin typeface="Arial" panose="020B0604020202020204"/>
                        <a:ea typeface="Arial" panose="020B0604020202020204"/>
                        <a:cs typeface="Arial" panose="020B0604020202020204"/>
                      </a:endParaRPr>
                    </a:p>
                  </a:txBody>
                  <a:tcPr marL="114300" marR="114300" marT="114300" marB="114300" anchor="ctr">
                    <a:lnR w="9525">
                      <a:solidFill>
                        <a:srgbClr val="C9D8D9"/>
                      </a:solidFill>
                      <a:prstDash val="solid"/>
                    </a:lnR>
                    <a:lnB w="9525">
                      <a:solidFill>
                        <a:srgbClr val="C9D8D9"/>
                      </a:solidFill>
                      <a:prstDash val="solid"/>
                    </a:lnB>
                    <a:solidFill>
                      <a:srgbClr val="FFFFFF"/>
                    </a:solidFill>
                  </a:tcPr>
                </a:tc>
              </a:tr>
            </a:tbl>
          </a:graphicData>
        </a:graphic>
      </p:graphicFrame>
      <p:sp>
        <p:nvSpPr>
          <p:cNvPr id="5" name="矩形 4"/>
          <p:cNvSpPr>
            <a:spLocks noGrp="1"/>
          </p:cNvSpPr>
          <p:nvPr/>
        </p:nvSpPr>
        <p:spPr>
          <a:xfrm>
            <a:off x="609600" y="5191125"/>
            <a:ext cx="10906125" cy="857250"/>
          </a:xfrm>
          <a:prstGeom prst="rect">
            <a:avLst/>
          </a:prstGeom>
          <a:noFill/>
          <a:ln w="0">
            <a:noFill/>
          </a:ln>
        </p:spPr>
        <p:txBody>
          <a:bodyPr lIns="0" tIns="0" rIns="0" bIns="0" anchor="t"/>
          <a:lstStyle>
            <a:defPPr>
              <a:defRPr sz="2100" b="0">
                <a:solidFill>
                  <a:srgbClr val="153D4B"/>
                </a:solidFill>
                <a:latin typeface="Arial" panose="020B0604020202020204"/>
                <a:ea typeface="Arial" panose="020B0604020202020204"/>
                <a:cs typeface="Arial" panose="020B0604020202020204"/>
              </a:defRPr>
            </a:defPPr>
          </a:lstStyle>
          <a:p>
            <a:r>
              <a:rPr sz="2300" b="0">
                <a:solidFill>
                  <a:srgbClr val="183B48"/>
                </a:solidFill>
                <a:latin typeface="Arial"/>
              </a:rPr>
              <a:t>The public GitHub repository contains no provider key. Saved probes are not field trials or an all-city coverage guarantee.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2" name="矩形 11"/>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Appendix  WorkBuddy evidence</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16</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Source: archived WorkBuddy contract and integration reconciliation. Separate optional report prepared.</a:t>
            </a:r>
            <a:endParaRPr sz="1125" b="0">
              <a:solidFill>
                <a:srgbClr val="4F636B"/>
              </a:solidFill>
              <a:latin typeface="Arial" panose="020B0604020202020204"/>
              <a:ea typeface="Arial" panose="020B0604020202020204"/>
              <a:cs typeface="Arial" panose="020B0604020202020204"/>
            </a:endParaRPr>
          </a:p>
        </p:txBody>
      </p:sp>
      <p:sp>
        <p:nvSpPr>
          <p:cNvPr id="4" name="矩形 3"/>
          <p:cNvSpPr>
            <a:spLocks noGrp="1"/>
          </p:cNvSpPr>
          <p:nvPr/>
        </p:nvSpPr>
        <p:spPr>
          <a:xfrm>
            <a:off x="60960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Documented contribution</a:t>
            </a:r>
            <a:endParaRPr sz="2250" b="1">
              <a:solidFill>
                <a:srgbClr val="087D76"/>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0960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A decision-interface draft with rules for provenance, missing information and constrained explanation.</a:t>
            </a:r>
            <a:endParaRPr sz="1875" b="0">
              <a:solidFill>
                <a:srgbClr val="153D4B"/>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381750" y="1714500"/>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Human integration decision</a:t>
            </a:r>
            <a:endParaRPr sz="2250" b="1">
              <a:solidFill>
                <a:srgbClr val="087D76"/>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381750" y="2257425"/>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Replace the placeholder corridor, reconcile field naming and add supported fields to the main contract.</a:t>
            </a:r>
            <a:endParaRPr sz="1875" b="0">
              <a:solidFill>
                <a:srgbClr val="153D4B"/>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0960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Reusable asset</a:t>
            </a:r>
            <a:endParaRPr sz="2250" b="1">
              <a:solidFill>
                <a:srgbClr val="087D76"/>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0960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pPr>
              <a:defRPr sz="1875" b="0">
                <a:solidFill>
                  <a:srgbClr val="153D4B"/>
                </a:solidFill>
                <a:latin typeface="Arial" panose="020B0604020202020204"/>
                <a:ea typeface="Arial" panose="020B0604020202020204"/>
                <a:cs typeface="Arial" panose="020B0604020202020204"/>
              </a:defRPr>
            </a:pPr>
            <a:r>
              <a:rPr sz="1875" b="0">
                <a:solidFill>
                  <a:srgbClr val="153D4B"/>
                </a:solidFill>
                <a:latin typeface="Arial" panose="020B0604020202020204"/>
                <a:ea typeface="Arial" panose="020B0604020202020204"/>
                <a:cs typeface="Arial" panose="020B0604020202020204"/>
              </a:rPr>
              <a:t>A schema-and-validation workflow that another team can apply to a source-backed decision tool.</a:t>
            </a:r>
            <a:endParaRPr sz="1875" b="0">
              <a:solidFill>
                <a:srgbClr val="153D4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6381750" y="3571875"/>
            <a:ext cx="5143500" cy="495300"/>
          </a:xfrm>
          <a:prstGeom prst="rect">
            <a:avLst/>
          </a:prstGeom>
          <a:noFill/>
          <a:ln w="0">
            <a:noFill/>
          </a:ln>
        </p:spPr>
        <p:txBody>
          <a:bodyPr lIns="0" tIns="0" rIns="0" bIns="0" anchor="t"/>
          <a:lstStyle>
            <a:defPPr>
              <a:defRPr sz="2250" b="1">
                <a:solidFill>
                  <a:srgbClr val="087D76"/>
                </a:solidFill>
                <a:latin typeface="Arial" panose="020B0604020202020204"/>
                <a:ea typeface="Arial" panose="020B0604020202020204"/>
                <a:cs typeface="Arial" panose="020B0604020202020204"/>
              </a:defRPr>
            </a:defPPr>
          </a:lstStyle>
          <a:p>
            <a:pPr>
              <a:defRPr sz="2250" b="1">
                <a:solidFill>
                  <a:srgbClr val="087D76"/>
                </a:solidFill>
                <a:latin typeface="Arial" panose="020B0604020202020204"/>
                <a:ea typeface="Arial" panose="020B0604020202020204"/>
                <a:cs typeface="Arial" panose="020B0604020202020204"/>
              </a:defRPr>
            </a:pPr>
            <a:r>
              <a:rPr sz="2250" b="1">
                <a:solidFill>
                  <a:srgbClr val="087D76"/>
                </a:solidFill>
                <a:latin typeface="Arial" panose="020B0604020202020204"/>
                <a:ea typeface="Arial" panose="020B0604020202020204"/>
                <a:cs typeface="Arial" panose="020B0604020202020204"/>
              </a:rPr>
              <a:t>Attribution boundary</a:t>
            </a:r>
            <a:endParaRPr sz="2250" b="1">
              <a:solidFill>
                <a:srgbClr val="087D76"/>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6381750" y="4114800"/>
            <a:ext cx="5095875" cy="1143000"/>
          </a:xfrm>
          <a:prstGeom prst="rect">
            <a:avLst/>
          </a:prstGeom>
          <a:noFill/>
          <a:ln w="0">
            <a:noFill/>
          </a:ln>
        </p:spPr>
        <p:txBody>
          <a:bodyPr lIns="0" tIns="0" rIns="0" bIns="0" anchor="t"/>
          <a:lstStyle>
            <a:defPPr>
              <a:defRPr sz="1875" b="0">
                <a:solidFill>
                  <a:srgbClr val="153D4B"/>
                </a:solidFill>
                <a:latin typeface="Arial" panose="020B0604020202020204"/>
                <a:ea typeface="Arial" panose="020B0604020202020204"/>
                <a:cs typeface="Arial" panose="020B0604020202020204"/>
              </a:defRPr>
            </a:defPPr>
          </a:lstStyle>
          <a:p>
            <a:r>
              <a:rPr sz="2200" b="0">
                <a:solidFill>
                  <a:srgbClr val="183B48"/>
                </a:solidFill>
                <a:latin typeface="Arial"/>
              </a:rPr>
              <a:t>No WorkBuddy token counts, speed gains or underlying model identity are claimed. Other tools’ work is excluded.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A"/>
        </a:solidFill>
        <a:effectLst/>
      </p:bgPr>
    </p:bg>
    <p:spTree>
      <p:nvGrpSpPr>
        <p:cNvPr id="1" name=""/>
        <p:cNvGrpSpPr/>
        <p:nvPr/>
      </p:nvGrpSpPr>
      <p:grpSpPr/>
      <p:sp>
        <p:nvSpPr>
          <p:cNvPr id="15" name="矩形 14"/>
          <p:cNvSpPr>
            <a:spLocks noGrp="1"/>
          </p:cNvSpPr>
          <p:nvPr/>
        </p:nvSpPr>
        <p:spPr>
          <a:xfrm>
            <a:off x="609600" y="400050"/>
            <a:ext cx="10953750" cy="990600"/>
          </a:xfrm>
          <a:prstGeom prst="rect">
            <a:avLst/>
          </a:prstGeom>
          <a:noFill/>
          <a:ln w="0">
            <a:noFill/>
          </a:ln>
        </p:spPr>
        <p:txBody>
          <a:bodyPr lIns="0" tIns="0" rIns="0" bIns="0" anchor="t"/>
          <a:lstStyle>
            <a:defPPr>
              <a:defRPr sz="3300" b="1">
                <a:solidFill>
                  <a:srgbClr val="153D4B"/>
                </a:solidFill>
                <a:latin typeface="Arial" panose="020B0604020202020204"/>
                <a:ea typeface="Arial" panose="020B0604020202020204"/>
                <a:cs typeface="Arial" panose="020B0604020202020204"/>
              </a:defRPr>
            </a:defPPr>
          </a:lstStyle>
          <a:p>
            <a:pPr>
              <a:defRPr sz="3300" b="1">
                <a:solidFill>
                  <a:srgbClr val="153D4B"/>
                </a:solidFill>
                <a:latin typeface="Arial" panose="020B0604020202020204"/>
                <a:ea typeface="Arial" panose="020B0604020202020204"/>
                <a:cs typeface="Arial" panose="020B0604020202020204"/>
              </a:defRPr>
            </a:pPr>
            <a:r>
              <a:rPr sz="3300" b="1">
                <a:solidFill>
                  <a:srgbClr val="153D4B"/>
                </a:solidFill>
                <a:latin typeface="Arial" panose="020B0604020202020204"/>
                <a:ea typeface="Arial" panose="020B0604020202020204"/>
                <a:cs typeface="Arial" panose="020B0604020202020204"/>
              </a:rPr>
              <a:t>Appendix  Sources and evidence</a:t>
            </a:r>
            <a:endParaRPr sz="3300" b="1">
              <a:solidFill>
                <a:srgbClr val="153D4B"/>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1239500" y="6381750"/>
            <a:ext cx="381000" cy="228600"/>
          </a:xfrm>
          <a:prstGeom prst="rect">
            <a:avLst/>
          </a:prstGeom>
          <a:noFill/>
          <a:ln w="0">
            <a:noFill/>
          </a:ln>
        </p:spPr>
        <p:txBody>
          <a:bodyPr lIns="0" tIns="0" rIns="0" bIns="0" anchor="t"/>
          <a:lstStyle>
            <a:defPPr>
              <a:defRPr sz="1200" b="0">
                <a:solidFill>
                  <a:srgbClr val="4F636B"/>
                </a:solidFill>
                <a:latin typeface="Arial" panose="020B0604020202020204"/>
                <a:ea typeface="Arial" panose="020B0604020202020204"/>
                <a:cs typeface="Arial" panose="020B0604020202020204"/>
              </a:defRPr>
            </a:defPPr>
          </a:lstStyle>
          <a:p>
            <a:r>
              <a:rPr sz="1100">
                <a:solidFill>
                  <a:srgbClr val="5A707A"/>
                </a:solidFill>
                <a:latin typeface="Arial"/>
              </a:rPr>
              <a:t>17</a:t>
            </a:r>
          </a:p>
        </p:txBody>
      </p:sp>
      <p:sp>
        <p:nvSpPr>
          <p:cNvPr id="3" name="矩形 2"/>
          <p:cNvSpPr>
            <a:spLocks noGrp="1"/>
          </p:cNvSpPr>
          <p:nvPr/>
        </p:nvSpPr>
        <p:spPr>
          <a:xfrm>
            <a:off x="609600" y="6381750"/>
            <a:ext cx="10382250" cy="285750"/>
          </a:xfrm>
          <a:prstGeom prst="rect">
            <a:avLst/>
          </a:prstGeom>
          <a:noFill/>
          <a:ln w="0">
            <a:noFill/>
          </a:ln>
        </p:spPr>
        <p:txBody>
          <a:bodyPr lIns="0" tIns="0" rIns="0" bIns="0" anchor="t"/>
          <a:lstStyle>
            <a:defPPr>
              <a:defRPr sz="1125" b="0">
                <a:solidFill>
                  <a:srgbClr val="4F636B"/>
                </a:solidFill>
                <a:latin typeface="Arial" panose="020B0604020202020204"/>
                <a:ea typeface="Arial" panose="020B0604020202020204"/>
                <a:cs typeface="Arial" panose="020B0604020202020204"/>
              </a:defRPr>
            </a:defPPr>
          </a:lstStyle>
          <a:p>
            <a:pPr>
              <a:defRPr sz="1125" b="0">
                <a:solidFill>
                  <a:srgbClr val="4F636B"/>
                </a:solidFill>
                <a:latin typeface="Arial" panose="020B0604020202020204"/>
                <a:ea typeface="Arial" panose="020B0604020202020204"/>
                <a:cs typeface="Arial" panose="020B0604020202020204"/>
              </a:defRPr>
            </a:pPr>
            <a:r>
              <a:rPr sz="1125" b="0">
                <a:solidFill>
                  <a:srgbClr val="4F636B"/>
                </a:solidFill>
                <a:latin typeface="Arial" panose="020B0604020202020204"/>
                <a:ea typeface="Arial" panose="020B0604020202020204"/>
                <a:cs typeface="Arial" panose="020B0604020202020204"/>
              </a:rPr>
              <a:t>Links are embedded. Full URLs and source context also appear in speaker notes.</a:t>
            </a:r>
            <a:endParaRPr sz="1125" b="0">
              <a:solidFill>
                <a:srgbClr val="4F636B"/>
              </a:solidFill>
              <a:latin typeface="Arial" panose="020B0604020202020204"/>
              <a:ea typeface="Arial" panose="020B0604020202020204"/>
              <a:cs typeface="Arial" panose="020B0604020202020204"/>
            </a:endParaRPr>
          </a:p>
        </p:txBody>
      </p:sp>
      <p:sp>
        <p:nvSpPr>
          <p:cNvPr id="4" name="矩形 3"/>
          <p:cNvSpPr>
            <a:spLocks noGrp="1"/>
          </p:cNvSpPr>
          <p:nvPr/>
        </p:nvSpPr>
        <p:spPr>
          <a:xfrm>
            <a:off x="609600" y="1600200"/>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1"/>
              </a:rPr>
              <a:t>Competition submission requirements</a:t>
            </a:r>
            <a:endParaRPr>
              <a:hlinkClick r:id="rId1"/>
            </a:endParaRPr>
          </a:p>
        </p:txBody>
      </p:sp>
      <p:sp>
        <p:nvSpPr>
          <p:cNvPr id="5" name="矩形 4"/>
          <p:cNvSpPr>
            <a:spLocks noGrp="1"/>
          </p:cNvSpPr>
          <p:nvPr/>
        </p:nvSpPr>
        <p:spPr>
          <a:xfrm>
            <a:off x="6229350" y="1600200"/>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2"/>
              </a:rPr>
              <a:t>Judging criteria</a:t>
            </a:r>
            <a:endParaRPr>
              <a:hlinkClick r:id="rId2"/>
            </a:endParaRPr>
          </a:p>
        </p:txBody>
      </p:sp>
      <p:sp>
        <p:nvSpPr>
          <p:cNvPr id="6" name="矩形 5"/>
          <p:cNvSpPr>
            <a:spLocks noGrp="1"/>
          </p:cNvSpPr>
          <p:nvPr/>
        </p:nvSpPr>
        <p:spPr>
          <a:xfrm>
            <a:off x="609600" y="2314575"/>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3"/>
              </a:rPr>
              <a:t>Hong Kong public transport patronage</a:t>
            </a:r>
            <a:endParaRPr>
              <a:hlinkClick r:id="rId3"/>
            </a:endParaRPr>
          </a:p>
        </p:txBody>
      </p:sp>
      <p:sp>
        <p:nvSpPr>
          <p:cNvPr id="7" name="矩形 6"/>
          <p:cNvSpPr>
            <a:spLocks noGrp="1"/>
          </p:cNvSpPr>
          <p:nvPr/>
        </p:nvSpPr>
        <p:spPr>
          <a:xfrm>
            <a:off x="6229350" y="2314575"/>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4"/>
              </a:rPr>
              <a:t>September 2023 rainfall and disruption</a:t>
            </a:r>
            <a:endParaRPr>
              <a:hlinkClick r:id="rId4"/>
            </a:endParaRPr>
          </a:p>
        </p:txBody>
      </p:sp>
      <p:sp>
        <p:nvSpPr>
          <p:cNvPr id="8" name="矩形 7"/>
          <p:cNvSpPr>
            <a:spLocks noGrp="1"/>
          </p:cNvSpPr>
          <p:nvPr/>
        </p:nvSpPr>
        <p:spPr>
          <a:xfrm>
            <a:off x="609600" y="3028950"/>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5"/>
              </a:rPr>
              <a:t>UN SDG 11 transport access</a:t>
            </a:r>
            <a:endParaRPr>
              <a:hlinkClick r:id="rId5"/>
            </a:endParaRPr>
          </a:p>
        </p:txBody>
      </p:sp>
      <p:sp>
        <p:nvSpPr>
          <p:cNvPr id="9" name="矩形 8"/>
          <p:cNvSpPr>
            <a:spLocks noGrp="1"/>
          </p:cNvSpPr>
          <p:nvPr/>
        </p:nvSpPr>
        <p:spPr>
          <a:xfrm>
            <a:off x="6229350" y="3028950"/>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6"/>
              </a:rPr>
              <a:t>UN SDG 13 climate resilience</a:t>
            </a:r>
            <a:endParaRPr>
              <a:hlinkClick r:id="rId6"/>
            </a:endParaRPr>
          </a:p>
        </p:txBody>
      </p:sp>
      <p:sp>
        <p:nvSpPr>
          <p:cNvPr id="10" name="矩形 9"/>
          <p:cNvSpPr>
            <a:spLocks noGrp="1"/>
          </p:cNvSpPr>
          <p:nvPr/>
        </p:nvSpPr>
        <p:spPr>
          <a:xfrm>
            <a:off x="609600" y="3743325"/>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7"/>
              </a:rPr>
              <a:t>Release verification and limitations</a:t>
            </a:r>
            <a:endParaRPr>
              <a:hlinkClick r:id="rId7"/>
            </a:endParaRPr>
          </a:p>
        </p:txBody>
      </p:sp>
      <p:sp>
        <p:nvSpPr>
          <p:cNvPr id="11" name="矩形 10"/>
          <p:cNvSpPr>
            <a:spLocks noGrp="1"/>
          </p:cNvSpPr>
          <p:nvPr/>
        </p:nvSpPr>
        <p:spPr>
          <a:xfrm>
            <a:off x="6229350" y="3743325"/>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8"/>
              </a:rPr>
              <a:t>Transit coverage and probe definitions</a:t>
            </a:r>
            <a:endParaRPr>
              <a:hlinkClick r:id="rId8"/>
            </a:endParaRPr>
          </a:p>
        </p:txBody>
      </p:sp>
      <p:sp>
        <p:nvSpPr>
          <p:cNvPr id="12" name="矩形 11"/>
          <p:cNvSpPr>
            <a:spLocks noGrp="1"/>
          </p:cNvSpPr>
          <p:nvPr/>
        </p:nvSpPr>
        <p:spPr>
          <a:xfrm>
            <a:off x="609600" y="4457700"/>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9"/>
              </a:rPr>
              <a:t>Explanation interface and safeguards</a:t>
            </a:r>
            <a:endParaRPr>
              <a:hlinkClick r:id="rId9"/>
            </a:endParaRPr>
          </a:p>
        </p:txBody>
      </p:sp>
      <p:sp>
        <p:nvSpPr>
          <p:cNvPr id="13" name="矩形 12"/>
          <p:cNvSpPr>
            <a:spLocks noGrp="1"/>
          </p:cNvSpPr>
          <p:nvPr/>
        </p:nvSpPr>
        <p:spPr>
          <a:xfrm>
            <a:off x="6229350" y="4457700"/>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10"/>
              </a:rPr>
              <a:t>Archived WorkBuddy contract</a:t>
            </a:r>
            <a:endParaRPr>
              <a:hlinkClick r:id="rId10"/>
            </a:endParaRPr>
          </a:p>
        </p:txBody>
      </p:sp>
      <p:sp>
        <p:nvSpPr>
          <p:cNvPr id="14" name="矩形 13"/>
          <p:cNvSpPr>
            <a:spLocks noGrp="1"/>
          </p:cNvSpPr>
          <p:nvPr/>
        </p:nvSpPr>
        <p:spPr>
          <a:xfrm>
            <a:off x="609600" y="5172075"/>
            <a:ext cx="5238750" cy="333375"/>
          </a:xfrm>
          <a:prstGeom prst="rect">
            <a:avLst/>
          </a:prstGeom>
          <a:noFill/>
          <a:ln w="0">
            <a:noFill/>
          </a:ln>
        </p:spPr>
        <p:txBody>
          <a:bodyPr lIns="0" tIns="0" rIns="0" bIns="0" anchor="t"/>
          <a:lstStyle>
            <a:defPPr>
              <a:defRPr sz="1725" b="0">
                <a:solidFill>
                  <a:srgbClr val="087D76"/>
                </a:solidFill>
                <a:latin typeface="Arial" panose="020B0604020202020204"/>
                <a:ea typeface="Arial" panose="020B0604020202020204"/>
                <a:cs typeface="Arial" panose="020B0604020202020204"/>
              </a:defRPr>
            </a:defPPr>
          </a:lstStyle>
          <a:p>
            <a:pPr>
              <a:defRPr sz="1725" b="0">
                <a:solidFill>
                  <a:srgbClr val="087D76"/>
                </a:solidFill>
                <a:latin typeface="Arial" panose="020B0604020202020204"/>
                <a:ea typeface="Arial" panose="020B0604020202020204"/>
                <a:cs typeface="Arial" panose="020B0604020202020204"/>
              </a:defRPr>
            </a:pPr>
            <a:r>
              <a:rPr>
                <a:hlinkClick r:id="rId11"/>
              </a:rPr>
              <a:t>Human integration change record</a:t>
            </a:r>
            <a:endParaRPr>
              <a:hlinkClick r:id="rId11"/>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8239</Words>
  <Application>WPS 演示</Application>
  <PresentationFormat>Converted Presentation</PresentationFormat>
  <Paragraphs>373</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Arial</vt:lpstr>
      <vt:lpstr>微软雅黑</vt:lpstr>
      <vt:lpstr>Arial Unicode MS</vt:lpstr>
      <vt:lpstr>Aptos</vt:lpstr>
      <vt:lpstr>Segoe UI</vt:lpstr>
      <vt:lpstr>Calibri</vt:lpstr>
      <vt:lpstr>微软雅黑 Light</vt:lpstr>
      <vt:lpstr>华文宋体</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Emperor *</cp:lastModifiedBy>
  <cp:revision>1</cp:revision>
  <dcterms:created xsi:type="dcterms:W3CDTF">2026-10-17T14:47:44Z</dcterms:created>
  <dcterms:modified xsi:type="dcterms:W3CDTF">2026-10-17T14:47:44Z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6271862227AD47B9A8D1E73A96236357_12</vt:lpwstr>
  </property>
  <property fmtid="{D5CDD505-2E9C-101B-9397-08002B2CF9AE}" pid="3" name="KSOProductBuildVer">
    <vt:lpwstr>2052-12.1.0.21915</vt:lpwstr>
  </property>
</Properties>
</file>